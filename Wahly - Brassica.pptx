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Playfair Display"/>
      <p:regular r:id="rId32"/>
      <p:bold r:id="rId33"/>
      <p:italic r:id="rId34"/>
      <p:boldItalic r:id="rId35"/>
    </p:embeddedFont>
    <p:embeddedFont>
      <p:font typeface="Montserrat"/>
      <p:regular r:id="rId36"/>
      <p:bold r:id="rId37"/>
      <p:italic r:id="rId38"/>
      <p:boldItalic r:id="rId39"/>
    </p:embeddedFont>
    <p:embeddedFont>
      <p:font typeface="Oswald"/>
      <p:regular r:id="rId40"/>
      <p:bold r:id="rId41"/>
    </p:embeddedFont>
    <p:embeddedFont>
      <p:font typeface="Merriweather"/>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regular.fntdata"/><Relationship Id="rId20" Type="http://schemas.openxmlformats.org/officeDocument/2006/relationships/slide" Target="slides/slide15.xml"/><Relationship Id="rId42" Type="http://schemas.openxmlformats.org/officeDocument/2006/relationships/font" Target="fonts/Merriweather-regular.fntdata"/><Relationship Id="rId41" Type="http://schemas.openxmlformats.org/officeDocument/2006/relationships/font" Target="fonts/Oswald-bold.fntdata"/><Relationship Id="rId22" Type="http://schemas.openxmlformats.org/officeDocument/2006/relationships/slide" Target="slides/slide17.xml"/><Relationship Id="rId44" Type="http://schemas.openxmlformats.org/officeDocument/2006/relationships/font" Target="fonts/Merriweather-italic.fntdata"/><Relationship Id="rId21" Type="http://schemas.openxmlformats.org/officeDocument/2006/relationships/slide" Target="slides/slide16.xml"/><Relationship Id="rId43" Type="http://schemas.openxmlformats.org/officeDocument/2006/relationships/font" Target="fonts/Merriweather-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Merriweather-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layfairDisplay-bold.fntdata"/><Relationship Id="rId10" Type="http://schemas.openxmlformats.org/officeDocument/2006/relationships/slide" Target="slides/slide5.xml"/><Relationship Id="rId32" Type="http://schemas.openxmlformats.org/officeDocument/2006/relationships/font" Target="fonts/PlayfairDisplay-regular.fntdata"/><Relationship Id="rId13" Type="http://schemas.openxmlformats.org/officeDocument/2006/relationships/slide" Target="slides/slide8.xml"/><Relationship Id="rId35" Type="http://schemas.openxmlformats.org/officeDocument/2006/relationships/font" Target="fonts/PlayfairDisplay-boldItalic.fntdata"/><Relationship Id="rId12" Type="http://schemas.openxmlformats.org/officeDocument/2006/relationships/slide" Target="slides/slide7.xml"/><Relationship Id="rId34" Type="http://schemas.openxmlformats.org/officeDocument/2006/relationships/font" Target="fonts/PlayfairDisplay-italic.fntdata"/><Relationship Id="rId15" Type="http://schemas.openxmlformats.org/officeDocument/2006/relationships/slide" Target="slides/slide10.xml"/><Relationship Id="rId37" Type="http://schemas.openxmlformats.org/officeDocument/2006/relationships/font" Target="fonts/Montserrat-bold.fntdata"/><Relationship Id="rId14" Type="http://schemas.openxmlformats.org/officeDocument/2006/relationships/slide" Target="slides/slide9.xml"/><Relationship Id="rId36" Type="http://schemas.openxmlformats.org/officeDocument/2006/relationships/font" Target="fonts/Montserrat-regular.fntdata"/><Relationship Id="rId17" Type="http://schemas.openxmlformats.org/officeDocument/2006/relationships/slide" Target="slides/slide12.xml"/><Relationship Id="rId39" Type="http://schemas.openxmlformats.org/officeDocument/2006/relationships/font" Target="fonts/Montserrat-boldItalic.fntdata"/><Relationship Id="rId16" Type="http://schemas.openxmlformats.org/officeDocument/2006/relationships/slide" Target="slides/slide11.xml"/><Relationship Id="rId38" Type="http://schemas.openxmlformats.org/officeDocument/2006/relationships/font" Target="fonts/Montserrat-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a8c6ca18e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a8c6ca18e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Microbiome work typically focuses on rhizosphere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a8c6ca18e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a8c6ca18e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a8c6ca18e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a8c6ca18e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a8c6ca18e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a8c6ca18e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a8c6ca18e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a8c6ca18e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a8c6ca18e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a8c6ca18e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a8c6ca18e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da8c6ca18e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a8c6ca18e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a8c6ca18e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I assessed alpha diversity using Hill numbers at q = 0, 1, and 2, representing richness, common taxa, and dominant taxa, respectively.</a:t>
            </a:r>
            <a:endParaRPr/>
          </a:p>
          <a:p>
            <a:pPr indent="0" lvl="0" marL="0" rtl="0" algn="l">
              <a:spcBef>
                <a:spcPts val="1200"/>
              </a:spcBef>
              <a:spcAft>
                <a:spcPts val="0"/>
              </a:spcAft>
              <a:buNone/>
            </a:pPr>
            <a:r>
              <a:rPr lang="en"/>
              <a:t>All three diversity metrics showed significant positive relationships with block indicating that diversity increases across blocks. The slightly stronger relationship at q = 0 suggests that changes in rare taxa contribute most strongly to this trend. Richness differed significantly among blocks (Kruskal–Wallis p &lt; 0.001).</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a8c6ca18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a8c6ca18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a8c6ca18e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da8c6ca18e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ad781ab4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dad781ab4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a8c6ca18e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da8c6ca18e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a8c6ca18e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da8c6ca18e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PCoA shows difference in samples between blocks, with block explaining ~20% of the variation in relative abundance and ~30% in presence/absence, meaning block </a:t>
            </a:r>
            <a:r>
              <a:rPr lang="en"/>
              <a:t>is a major factor in determining </a:t>
            </a:r>
            <a:r>
              <a:rPr lang="en"/>
              <a:t>community structure. </a:t>
            </a:r>
            <a:endParaRPr/>
          </a:p>
          <a:p>
            <a:pPr indent="0" lvl="0" marL="0" rtl="0" algn="l">
              <a:spcBef>
                <a:spcPts val="0"/>
              </a:spcBef>
              <a:spcAft>
                <a:spcPts val="0"/>
              </a:spcAft>
              <a:buNone/>
            </a:pPr>
            <a:r>
              <a:rPr lang="en"/>
              <a:t>The betadisper was significantly different, meaning there is heterogeneity in the dispersion… some time points had more variation than others.</a:t>
            </a:r>
            <a:endParaRPr/>
          </a:p>
          <a:p>
            <a:pPr indent="0" lvl="0" marL="0" rtl="0" algn="l">
              <a:spcBef>
                <a:spcPts val="0"/>
              </a:spcBef>
              <a:spcAft>
                <a:spcPts val="0"/>
              </a:spcAft>
              <a:buClr>
                <a:schemeClr val="dk1"/>
              </a:buClr>
              <a:buSzPts val="1100"/>
              <a:buFont typeface="Arial"/>
              <a:buNone/>
            </a:pPr>
            <a:r>
              <a:rPr lang="en">
                <a:solidFill>
                  <a:schemeClr val="dk1"/>
                </a:solidFill>
              </a:rPr>
              <a:t>PERMANOVA confirmed that block significantly influenced community composition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ad781ab4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ad781ab4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ad781ab49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ad781ab4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a8c6ca18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a8c6ca18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ad781ab4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dad781ab4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a8c6ca18e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da8c6ca18e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50">
                <a:solidFill>
                  <a:srgbClr val="222222"/>
                </a:solidFill>
                <a:highlight>
                  <a:srgbClr val="FFFFFF"/>
                </a:highlight>
                <a:latin typeface="Merriweather"/>
                <a:ea typeface="Merriweather"/>
                <a:cs typeface="Merriweather"/>
                <a:sym typeface="Merriweather"/>
              </a:rPr>
              <a:t>Antifungal, antibacterial, nitrogen-fixing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a8c6ca18e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da8c6ca18e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a8c6ca18e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da8c6ca18e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da8c6ca18e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da8c6ca18e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ad781ab4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dad781ab4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a8c6ca18e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a8c6ca18e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a8c6ca18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da8c6ca18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hypotheses and avenues to explore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a8c6ca18e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da8c6ca18e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noFill/>
      </p:bgPr>
    </p:bg>
    <p:spTree>
      <p:nvGrpSpPr>
        <p:cNvPr id="9" name="Shape 9"/>
        <p:cNvGrpSpPr/>
        <p:nvPr/>
      </p:nvGrpSpPr>
      <p:grpSpPr>
        <a:xfrm>
          <a:off x="0" y="0"/>
          <a:ext cx="0" cy="0"/>
          <a:chOff x="0" y="0"/>
          <a:chExt cx="0" cy="0"/>
        </a:xfrm>
      </p:grpSpPr>
      <p:sp>
        <p:nvSpPr>
          <p:cNvPr id="10" name="Google Shape;10;p2"/>
          <p:cNvSpPr/>
          <p:nvPr/>
        </p:nvSpPr>
        <p:spPr>
          <a:xfrm>
            <a:off x="4408825" y="3739500"/>
            <a:ext cx="51000" cy="1404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408825" y="0"/>
            <a:ext cx="51000" cy="1404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0" y="1404000"/>
            <a:ext cx="9144000" cy="2146800"/>
          </a:xfrm>
          <a:prstGeom prst="rect">
            <a:avLst/>
          </a:prstGeom>
          <a:gradFill>
            <a:gsLst>
              <a:gs pos="0">
                <a:schemeClr val="dk1"/>
              </a:gs>
              <a:gs pos="49000">
                <a:srgbClr val="A9F05E"/>
              </a:gs>
              <a:gs pos="100000">
                <a:schemeClr val="dk1"/>
              </a:gs>
            </a:gsLst>
            <a:lin ang="0" scaled="0"/>
          </a:gradFill>
        </p:spPr>
        <p:txBody>
          <a:bodyPr anchorCtr="0" anchor="ctr" bIns="91425" lIns="91425" spcFirstLastPara="1" rIns="91425" wrap="square" tIns="91425">
            <a:normAutofit/>
          </a:bodyPr>
          <a:lstStyle>
            <a:lvl1pPr lvl="0" algn="ctr">
              <a:spcBef>
                <a:spcPts val="0"/>
              </a:spcBef>
              <a:spcAft>
                <a:spcPts val="0"/>
              </a:spcAft>
              <a:buSzPts val="6500"/>
              <a:buFont typeface="Playfair Display"/>
              <a:buNone/>
              <a:defRPr b="1" sz="65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775"/>
            <a:ext cx="53490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A9F05E">
            <a:alpha val="68630"/>
          </a:srgbClr>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1037025" y="-46500"/>
            <a:ext cx="24300" cy="654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highlight>
                  <a:srgbClr val="A9F05E"/>
                </a:highligh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4"/>
          <p:cNvSpPr/>
          <p:nvPr/>
        </p:nvSpPr>
        <p:spPr>
          <a:xfrm>
            <a:off x="7507000" y="-43350"/>
            <a:ext cx="36000" cy="5230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p:nvPr/>
        </p:nvSpPr>
        <p:spPr>
          <a:xfrm>
            <a:off x="1037025" y="-46500"/>
            <a:ext cx="24300" cy="654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highlight>
                  <a:srgbClr val="A9F05E"/>
                </a:highligh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a:off x="1037025" y="-46500"/>
            <a:ext cx="24300" cy="654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highlight>
                  <a:schemeClr val="accent4"/>
                </a:highligh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 name="Google Shape;34;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7"/>
          <p:cNvSpPr/>
          <p:nvPr/>
        </p:nvSpPr>
        <p:spPr>
          <a:xfrm>
            <a:off x="1037025" y="-46500"/>
            <a:ext cx="24300" cy="654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highlight>
                  <a:schemeClr val="accent4"/>
                </a:highlight>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 name="Google Shape;38;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9" name="Google Shape;39;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7"/>
          <p:cNvSpPr/>
          <p:nvPr/>
        </p:nvSpPr>
        <p:spPr>
          <a:xfrm>
            <a:off x="3851675" y="0"/>
            <a:ext cx="36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BEE58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43" name="Google Shape;43;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1042750" y="-46500"/>
            <a:ext cx="18600" cy="160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 name="Google Shape;46;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7" name="Google Shape;47;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8" name="Google Shape;48;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 name="Google Shape;4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50" name="Google Shape;50;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p10"/>
          <p:cNvSpPr/>
          <p:nvPr/>
        </p:nvSpPr>
        <p:spPr>
          <a:xfrm>
            <a:off x="1037025" y="4548236"/>
            <a:ext cx="24300" cy="654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54" name="Google Shape;54;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7" name="Google Shape;57;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8" name="Google Shape;58;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3"/>
          <p:cNvSpPr txBox="1"/>
          <p:nvPr>
            <p:ph type="ctrTitle"/>
          </p:nvPr>
        </p:nvSpPr>
        <p:spPr>
          <a:xfrm>
            <a:off x="0" y="1404000"/>
            <a:ext cx="9144000" cy="214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4820"/>
              <a:t>Phyllosphere Changes Over Growth of Canola</a:t>
            </a:r>
            <a:endParaRPr sz="4820"/>
          </a:p>
        </p:txBody>
      </p:sp>
      <p:sp>
        <p:nvSpPr>
          <p:cNvPr id="66" name="Google Shape;66;p13"/>
          <p:cNvSpPr txBox="1"/>
          <p:nvPr>
            <p:ph idx="1" type="subTitle"/>
          </p:nvPr>
        </p:nvSpPr>
        <p:spPr>
          <a:xfrm>
            <a:off x="344250" y="3550775"/>
            <a:ext cx="5349000" cy="57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Emily Wahlenmayer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194250" y="1093787"/>
            <a:ext cx="4187700" cy="1786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080"/>
              <a:t>Phyllosphere microbial communities promote plant growth and resiliency</a:t>
            </a:r>
            <a:endParaRPr sz="3080"/>
          </a:p>
        </p:txBody>
      </p:sp>
      <p:sp>
        <p:nvSpPr>
          <p:cNvPr id="72" name="Google Shape;72;p14"/>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900"/>
              <a:t>bacterial load increased with the growing season on corn leaves</a:t>
            </a:r>
            <a:endParaRPr sz="1900"/>
          </a:p>
        </p:txBody>
      </p:sp>
      <p:sp>
        <p:nvSpPr>
          <p:cNvPr id="73" name="Google Shape;73;p1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pic>
        <p:nvPicPr>
          <p:cNvPr id="74" name="Google Shape;74;p14"/>
          <p:cNvPicPr preferRelativeResize="0"/>
          <p:nvPr/>
        </p:nvPicPr>
        <p:blipFill rotWithShape="1">
          <a:blip r:embed="rId3">
            <a:alphaModFix/>
          </a:blip>
          <a:srcRect b="0" l="5807" r="5532" t="0"/>
          <a:stretch/>
        </p:blipFill>
        <p:spPr>
          <a:xfrm>
            <a:off x="4572000" y="0"/>
            <a:ext cx="4560600" cy="5143500"/>
          </a:xfrm>
          <a:prstGeom prst="rect">
            <a:avLst/>
          </a:prstGeom>
          <a:noFill/>
          <a:ln>
            <a:noFill/>
          </a:ln>
        </p:spPr>
      </p:pic>
      <p:sp>
        <p:nvSpPr>
          <p:cNvPr id="75" name="Google Shape;75;p14"/>
          <p:cNvSpPr txBox="1"/>
          <p:nvPr/>
        </p:nvSpPr>
        <p:spPr>
          <a:xfrm>
            <a:off x="-51766" y="4656675"/>
            <a:ext cx="4743000" cy="4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1"/>
                </a:solidFill>
                <a:latin typeface="Playfair Display"/>
                <a:ea typeface="Playfair Display"/>
                <a:cs typeface="Playfair Display"/>
                <a:sym typeface="Playfair Display"/>
              </a:rPr>
              <a:t>Batool F, Rehman Y, Hasnain S (2016) Phylloplane associated plant bacteria of commercially superior wheat varieties exhibit superior plant growth promoting abilities. Front Life Sci 9:313–322</a:t>
            </a:r>
            <a:endParaRPr sz="9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5"/>
          <p:cNvPicPr preferRelativeResize="0"/>
          <p:nvPr/>
        </p:nvPicPr>
        <p:blipFill>
          <a:blip r:embed="rId3">
            <a:alphaModFix amt="80000"/>
          </a:blip>
          <a:stretch>
            <a:fillRect/>
          </a:stretch>
        </p:blipFill>
        <p:spPr>
          <a:xfrm>
            <a:off x="5307000" y="5568"/>
            <a:ext cx="3837000" cy="5132363"/>
          </a:xfrm>
          <a:prstGeom prst="rect">
            <a:avLst/>
          </a:prstGeom>
          <a:noFill/>
          <a:ln>
            <a:noFill/>
          </a:ln>
        </p:spPr>
      </p:pic>
      <p:sp>
        <p:nvSpPr>
          <p:cNvPr id="81" name="Google Shape;81;p15"/>
          <p:cNvSpPr txBox="1"/>
          <p:nvPr/>
        </p:nvSpPr>
        <p:spPr>
          <a:xfrm>
            <a:off x="-51766" y="4656675"/>
            <a:ext cx="4743000" cy="4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1"/>
                </a:solidFill>
                <a:latin typeface="Playfair Display"/>
                <a:ea typeface="Playfair Display"/>
                <a:cs typeface="Playfair Display"/>
                <a:sym typeface="Playfair Display"/>
              </a:rPr>
              <a:t>Ryan PR, Dessaux Y, Thomashow LS, Weller DM (2009) Rhizosphere engineering and management for sustainable agriculture. Plant Soil 321(1–2):363–383</a:t>
            </a:r>
            <a:endParaRPr sz="900">
              <a:solidFill>
                <a:schemeClr val="accent1"/>
              </a:solidFill>
              <a:latin typeface="Playfair Display"/>
              <a:ea typeface="Playfair Display"/>
              <a:cs typeface="Playfair Display"/>
              <a:sym typeface="Playfair Display"/>
            </a:endParaRPr>
          </a:p>
        </p:txBody>
      </p:sp>
      <p:sp>
        <p:nvSpPr>
          <p:cNvPr id="82" name="Google Shape;82;p15"/>
          <p:cNvSpPr txBox="1"/>
          <p:nvPr/>
        </p:nvSpPr>
        <p:spPr>
          <a:xfrm>
            <a:off x="454450" y="3333725"/>
            <a:ext cx="36672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2100">
              <a:solidFill>
                <a:schemeClr val="dk2"/>
              </a:solidFill>
              <a:latin typeface="Playfair Display"/>
              <a:ea typeface="Playfair Display"/>
              <a:cs typeface="Playfair Display"/>
              <a:sym typeface="Playfair Display"/>
            </a:endParaRPr>
          </a:p>
        </p:txBody>
      </p:sp>
      <p:sp>
        <p:nvSpPr>
          <p:cNvPr id="83" name="Google Shape;83;p15"/>
          <p:cNvSpPr txBox="1"/>
          <p:nvPr>
            <p:ph type="title"/>
          </p:nvPr>
        </p:nvSpPr>
        <p:spPr>
          <a:xfrm>
            <a:off x="268425" y="887550"/>
            <a:ext cx="7279200" cy="37692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80"/>
              <a:t>Phyllosphere breeding is a possible avenue for food security without increasing land use. </a:t>
            </a:r>
            <a:endParaRPr sz="3080"/>
          </a:p>
          <a:p>
            <a:pPr indent="0" lvl="0" marL="457200" rtl="0" algn="l">
              <a:spcBef>
                <a:spcPts val="0"/>
              </a:spcBef>
              <a:spcAft>
                <a:spcPts val="0"/>
              </a:spcAft>
              <a:buNone/>
            </a:pPr>
            <a:r>
              <a:t/>
            </a:r>
            <a:endParaRPr sz="2100">
              <a:latin typeface="Playfair Display"/>
              <a:ea typeface="Playfair Display"/>
              <a:cs typeface="Playfair Display"/>
              <a:sym typeface="Playfair Display"/>
            </a:endParaRPr>
          </a:p>
          <a:p>
            <a:pPr indent="0" lvl="0" marL="0" rtl="0" algn="l">
              <a:spcBef>
                <a:spcPts val="0"/>
              </a:spcBef>
              <a:spcAft>
                <a:spcPts val="0"/>
              </a:spcAft>
              <a:buNone/>
            </a:pPr>
            <a:r>
              <a:rPr lang="en" sz="2000">
                <a:latin typeface="Playfair Display"/>
                <a:ea typeface="Playfair Display"/>
                <a:cs typeface="Playfair Display"/>
                <a:sym typeface="Playfair Display"/>
              </a:rPr>
              <a:t>37% of all arable land is dedicated to </a:t>
            </a:r>
            <a:endParaRPr sz="2000">
              <a:latin typeface="Playfair Display"/>
              <a:ea typeface="Playfair Display"/>
              <a:cs typeface="Playfair Display"/>
              <a:sym typeface="Playfair Display"/>
            </a:endParaRPr>
          </a:p>
          <a:p>
            <a:pPr indent="0" lvl="0" marL="0" rtl="0" algn="l">
              <a:spcBef>
                <a:spcPts val="0"/>
              </a:spcBef>
              <a:spcAft>
                <a:spcPts val="0"/>
              </a:spcAft>
              <a:buNone/>
            </a:pPr>
            <a:r>
              <a:rPr lang="en" sz="2000">
                <a:latin typeface="Playfair Display"/>
                <a:ea typeface="Playfair Display"/>
                <a:cs typeface="Playfair Display"/>
                <a:sym typeface="Playfair Display"/>
              </a:rPr>
              <a:t>agriculture.</a:t>
            </a:r>
            <a:endParaRPr sz="2000">
              <a:latin typeface="Playfair Display"/>
              <a:ea typeface="Playfair Display"/>
              <a:cs typeface="Playfair Display"/>
              <a:sym typeface="Playfair Display"/>
            </a:endParaRPr>
          </a:p>
          <a:p>
            <a:pPr indent="0" lvl="0" marL="0" rtl="0" algn="l">
              <a:spcBef>
                <a:spcPts val="0"/>
              </a:spcBef>
              <a:spcAft>
                <a:spcPts val="0"/>
              </a:spcAft>
              <a:buNone/>
            </a:pPr>
            <a:r>
              <a:t/>
            </a:r>
            <a:endParaRPr sz="3080"/>
          </a:p>
        </p:txBody>
      </p:sp>
      <p:sp>
        <p:nvSpPr>
          <p:cNvPr id="84" name="Google Shape;84;p15"/>
          <p:cNvSpPr txBox="1"/>
          <p:nvPr>
            <p:ph type="title"/>
          </p:nvPr>
        </p:nvSpPr>
        <p:spPr>
          <a:xfrm>
            <a:off x="268425" y="887550"/>
            <a:ext cx="7279200" cy="37692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80"/>
              <a:t>Phyllosphere breeding is a possible avenue for food security without increasing land use. </a:t>
            </a:r>
            <a:endParaRPr sz="3080"/>
          </a:p>
          <a:p>
            <a:pPr indent="0" lvl="0" marL="457200" rtl="0" algn="l">
              <a:spcBef>
                <a:spcPts val="0"/>
              </a:spcBef>
              <a:spcAft>
                <a:spcPts val="0"/>
              </a:spcAft>
              <a:buNone/>
            </a:pPr>
            <a:r>
              <a:t/>
            </a:r>
            <a:endParaRPr sz="2100">
              <a:latin typeface="Playfair Display"/>
              <a:ea typeface="Playfair Display"/>
              <a:cs typeface="Playfair Display"/>
              <a:sym typeface="Playfair Display"/>
            </a:endParaRPr>
          </a:p>
          <a:p>
            <a:pPr indent="0" lvl="0" marL="0" rtl="0" algn="l">
              <a:spcBef>
                <a:spcPts val="0"/>
              </a:spcBef>
              <a:spcAft>
                <a:spcPts val="0"/>
              </a:spcAft>
              <a:buNone/>
            </a:pPr>
            <a:r>
              <a:rPr lang="en" sz="2000">
                <a:latin typeface="Playfair Display"/>
                <a:ea typeface="Playfair Display"/>
                <a:cs typeface="Playfair Display"/>
                <a:sym typeface="Playfair Display"/>
              </a:rPr>
              <a:t>37% of all arable land is dedicated to </a:t>
            </a:r>
            <a:endParaRPr sz="2000">
              <a:latin typeface="Playfair Display"/>
              <a:ea typeface="Playfair Display"/>
              <a:cs typeface="Playfair Display"/>
              <a:sym typeface="Playfair Display"/>
            </a:endParaRPr>
          </a:p>
          <a:p>
            <a:pPr indent="0" lvl="0" marL="0" rtl="0" algn="l">
              <a:spcBef>
                <a:spcPts val="0"/>
              </a:spcBef>
              <a:spcAft>
                <a:spcPts val="0"/>
              </a:spcAft>
              <a:buNone/>
            </a:pPr>
            <a:r>
              <a:rPr lang="en" sz="2000">
                <a:latin typeface="Playfair Display"/>
                <a:ea typeface="Playfair Display"/>
                <a:cs typeface="Playfair Display"/>
                <a:sym typeface="Playfair Display"/>
              </a:rPr>
              <a:t>agriculture.</a:t>
            </a:r>
            <a:endParaRPr sz="2000">
              <a:latin typeface="Playfair Display"/>
              <a:ea typeface="Playfair Display"/>
              <a:cs typeface="Playfair Display"/>
              <a:sym typeface="Playfair Display"/>
            </a:endParaRPr>
          </a:p>
          <a:p>
            <a:pPr indent="0" lvl="0" marL="0" rtl="0" algn="l">
              <a:spcBef>
                <a:spcPts val="0"/>
              </a:spcBef>
              <a:spcAft>
                <a:spcPts val="0"/>
              </a:spcAft>
              <a:buNone/>
            </a:pPr>
            <a:r>
              <a:t/>
            </a:r>
            <a:endParaRPr sz="2000">
              <a:latin typeface="Playfair Display"/>
              <a:ea typeface="Playfair Display"/>
              <a:cs typeface="Playfair Display"/>
              <a:sym typeface="Playfair Display"/>
            </a:endParaRPr>
          </a:p>
          <a:p>
            <a:pPr indent="0" lvl="0" marL="0" rtl="0" algn="l">
              <a:spcBef>
                <a:spcPts val="0"/>
              </a:spcBef>
              <a:spcAft>
                <a:spcPts val="0"/>
              </a:spcAft>
              <a:buNone/>
            </a:pPr>
            <a:r>
              <a:rPr lang="en" sz="2000">
                <a:latin typeface="Playfair Display"/>
                <a:ea typeface="Playfair Display"/>
                <a:cs typeface="Playfair Display"/>
                <a:sym typeface="Playfair Display"/>
              </a:rPr>
              <a:t>Improving yield w/o GMOs is of interest.</a:t>
            </a:r>
            <a:endParaRPr sz="2000">
              <a:latin typeface="Playfair Display"/>
              <a:ea typeface="Playfair Display"/>
              <a:cs typeface="Playfair Display"/>
              <a:sym typeface="Playfair Display"/>
            </a:endParaRPr>
          </a:p>
          <a:p>
            <a:pPr indent="0" lvl="0" marL="0" rtl="0" algn="l">
              <a:spcBef>
                <a:spcPts val="0"/>
              </a:spcBef>
              <a:spcAft>
                <a:spcPts val="0"/>
              </a:spcAft>
              <a:buNone/>
            </a:pPr>
            <a:r>
              <a:t/>
            </a:r>
            <a:endParaRPr sz="2000">
              <a:latin typeface="Playfair Display"/>
              <a:ea typeface="Playfair Display"/>
              <a:cs typeface="Playfair Display"/>
              <a:sym typeface="Playfair Display"/>
            </a:endParaRPr>
          </a:p>
          <a:p>
            <a:pPr indent="0" lvl="0" marL="0" rtl="0" algn="l">
              <a:spcBef>
                <a:spcPts val="0"/>
              </a:spcBef>
              <a:spcAft>
                <a:spcPts val="0"/>
              </a:spcAft>
              <a:buNone/>
            </a:pPr>
            <a:r>
              <a:rPr lang="en" sz="2000">
                <a:latin typeface="Playfair Display"/>
                <a:ea typeface="Playfair Display"/>
                <a:cs typeface="Playfair Display"/>
                <a:sym typeface="Playfair Display"/>
              </a:rPr>
              <a:t>Canola is the most valuable crop in </a:t>
            </a:r>
            <a:endParaRPr sz="2000">
              <a:latin typeface="Playfair Display"/>
              <a:ea typeface="Playfair Display"/>
              <a:cs typeface="Playfair Display"/>
              <a:sym typeface="Playfair Display"/>
            </a:endParaRPr>
          </a:p>
          <a:p>
            <a:pPr indent="0" lvl="0" marL="0" rtl="0" algn="l">
              <a:spcBef>
                <a:spcPts val="0"/>
              </a:spcBef>
              <a:spcAft>
                <a:spcPts val="0"/>
              </a:spcAft>
              <a:buNone/>
            </a:pPr>
            <a:r>
              <a:rPr lang="en" sz="2000">
                <a:latin typeface="Playfair Display"/>
                <a:ea typeface="Playfair Display"/>
                <a:cs typeface="Playfair Display"/>
                <a:sym typeface="Playfair Display"/>
              </a:rPr>
              <a:t>Canada, producing $26-$29 billion/yr.</a:t>
            </a:r>
            <a:endParaRPr sz="2000">
              <a:latin typeface="Playfair Display"/>
              <a:ea typeface="Playfair Display"/>
              <a:cs typeface="Playfair Display"/>
              <a:sym typeface="Playfair Display"/>
            </a:endParaRPr>
          </a:p>
          <a:p>
            <a:pPr indent="0" lvl="0" marL="0" rtl="0" algn="l">
              <a:spcBef>
                <a:spcPts val="0"/>
              </a:spcBef>
              <a:spcAft>
                <a:spcPts val="0"/>
              </a:spcAft>
              <a:buNone/>
            </a:pPr>
            <a:r>
              <a:t/>
            </a:r>
            <a:endParaRPr sz="2100">
              <a:latin typeface="Playfair Display"/>
              <a:ea typeface="Playfair Display"/>
              <a:cs typeface="Playfair Display"/>
              <a:sym typeface="Playfair Display"/>
            </a:endParaRPr>
          </a:p>
          <a:p>
            <a:pPr indent="0" lvl="0" marL="0" rtl="0" algn="l">
              <a:spcBef>
                <a:spcPts val="0"/>
              </a:spcBef>
              <a:spcAft>
                <a:spcPts val="0"/>
              </a:spcAft>
              <a:buNone/>
            </a:pPr>
            <a:r>
              <a:t/>
            </a:r>
            <a:endParaRPr sz="308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311700" y="1734487"/>
            <a:ext cx="8520600" cy="2146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Clr>
                <a:schemeClr val="dk2"/>
              </a:buClr>
              <a:buSzPct val="33904"/>
              <a:buFont typeface="Arial"/>
              <a:buNone/>
            </a:pPr>
            <a:r>
              <a:t/>
            </a:r>
            <a:endParaRPr sz="3244">
              <a:solidFill>
                <a:schemeClr val="lt1"/>
              </a:solidFill>
              <a:latin typeface="Playfair Display"/>
              <a:ea typeface="Playfair Display"/>
              <a:cs typeface="Playfair Display"/>
              <a:sym typeface="Playfair Display"/>
            </a:endParaRPr>
          </a:p>
          <a:p>
            <a:pPr indent="0" lvl="0" marL="0" rtl="0" algn="ctr">
              <a:spcBef>
                <a:spcPts val="0"/>
              </a:spcBef>
              <a:spcAft>
                <a:spcPts val="0"/>
              </a:spcAft>
              <a:buNone/>
            </a:pPr>
            <a:r>
              <a:rPr lang="en" sz="3244"/>
              <a:t>Plants need different services during different growth stages; microbial roles may vary over time. The micro-niche also changes with plant development </a:t>
            </a:r>
            <a:endParaRPr sz="3244"/>
          </a:p>
          <a:p>
            <a:pPr indent="0" lvl="0" marL="0" rtl="0" algn="ctr">
              <a:spcBef>
                <a:spcPts val="0"/>
              </a:spcBef>
              <a:spcAft>
                <a:spcPts val="0"/>
              </a:spcAft>
              <a:buNone/>
            </a:pPr>
            <a:r>
              <a:rPr lang="en" sz="3244"/>
              <a:t>(leaf texture, seasonal change, pest pressure)</a:t>
            </a:r>
            <a:endParaRPr sz="3244"/>
          </a:p>
          <a:p>
            <a:pPr indent="0" lvl="0" marL="0" rtl="0" algn="ctr">
              <a:spcBef>
                <a:spcPts val="0"/>
              </a:spcBef>
              <a:spcAft>
                <a:spcPts val="0"/>
              </a:spcAft>
              <a:buNone/>
            </a:pPr>
            <a:r>
              <a:t/>
            </a:r>
            <a:endParaRPr sz="2000"/>
          </a:p>
        </p:txBody>
      </p:sp>
      <p:sp>
        <p:nvSpPr>
          <p:cNvPr id="90" name="Google Shape;90;p16"/>
          <p:cNvSpPr txBox="1"/>
          <p:nvPr>
            <p:ph idx="1" type="body"/>
          </p:nvPr>
        </p:nvSpPr>
        <p:spPr>
          <a:xfrm>
            <a:off x="311700" y="3953150"/>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Plants require the most services during flowering, an energy-intensive process.</a:t>
            </a:r>
            <a:endParaRPr/>
          </a:p>
        </p:txBody>
      </p:sp>
      <p:sp>
        <p:nvSpPr>
          <p:cNvPr id="91" name="Google Shape;91;p1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2" name="Google Shape;92;p16"/>
          <p:cNvSpPr txBox="1"/>
          <p:nvPr/>
        </p:nvSpPr>
        <p:spPr>
          <a:xfrm>
            <a:off x="-8" y="4729148"/>
            <a:ext cx="91017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1"/>
                </a:solidFill>
                <a:latin typeface="Playfair Display"/>
                <a:ea typeface="Playfair Display"/>
                <a:cs typeface="Playfair Display"/>
                <a:sym typeface="Playfair Display"/>
              </a:rPr>
              <a:t>Borghi M, Perez de Souza L, Tohge T, Mi J, Melandri G, Proost S, Martins MCM, Al-Babili S, Bouwmeester HJ, Fernie AR. High-energy-level metabolism and transport occur at the transition from closed to open flowers. Plant Physiol. 2022 Aug 29;190(1):319-339. doi: 10.1093/plphys/kiac253. PMID: 35640120; PMCID: PMC9434183. </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9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When is the microbial richness highest?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490250" y="526350"/>
            <a:ext cx="61164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5000"/>
              <a:t>How does the microbial community shift over time?</a:t>
            </a:r>
            <a:endParaRPr sz="5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94500" y="1082225"/>
            <a:ext cx="8355000" cy="2146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sz="3244">
              <a:solidFill>
                <a:schemeClr val="lt1"/>
              </a:solidFill>
              <a:latin typeface="Playfair Display"/>
              <a:ea typeface="Playfair Display"/>
              <a:cs typeface="Playfair Display"/>
              <a:sym typeface="Playfair Display"/>
            </a:endParaRPr>
          </a:p>
          <a:p>
            <a:pPr indent="0" lvl="0" marL="0" rtl="0" algn="ctr">
              <a:spcBef>
                <a:spcPts val="0"/>
              </a:spcBef>
              <a:spcAft>
                <a:spcPts val="0"/>
              </a:spcAft>
              <a:buNone/>
            </a:pPr>
            <a:r>
              <a:rPr lang="en" sz="3244"/>
              <a:t>I hypothesize that </a:t>
            </a:r>
            <a:r>
              <a:rPr lang="en" sz="3244"/>
              <a:t>microbial</a:t>
            </a:r>
            <a:r>
              <a:rPr lang="en" sz="3244"/>
              <a:t> abundance and diversity is the highest around flowering stage.</a:t>
            </a:r>
            <a:endParaRPr sz="2000"/>
          </a:p>
        </p:txBody>
      </p:sp>
      <p:sp>
        <p:nvSpPr>
          <p:cNvPr id="108" name="Google Shape;108;p19"/>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expect a positive relationship between richness and time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1130800"/>
            <a:ext cx="8520600" cy="3116400"/>
          </a:xfrm>
          <a:prstGeom prst="rect">
            <a:avLst/>
          </a:prstGeom>
          <a:solidFill>
            <a:schemeClr val="lt1"/>
          </a:solidFill>
        </p:spPr>
        <p:txBody>
          <a:bodyPr anchorCtr="0" anchor="ctr" bIns="91425" lIns="91425" spcFirstLastPara="1" rIns="91425" wrap="square" tIns="91425">
            <a:noAutofit/>
          </a:bodyPr>
          <a:lstStyle/>
          <a:p>
            <a:pPr indent="-387350" lvl="0" marL="457200" rtl="0" algn="ctr">
              <a:lnSpc>
                <a:spcPct val="115000"/>
              </a:lnSpc>
              <a:spcBef>
                <a:spcPts val="0"/>
              </a:spcBef>
              <a:spcAft>
                <a:spcPts val="0"/>
              </a:spcAft>
              <a:buClr>
                <a:srgbClr val="273540"/>
              </a:buClr>
              <a:buSzPts val="2500"/>
              <a:buFont typeface="Oswald"/>
              <a:buChar char="●"/>
            </a:pPr>
            <a:r>
              <a:rPr b="1" lang="en" sz="2500">
                <a:solidFill>
                  <a:srgbClr val="273540"/>
                </a:solidFill>
                <a:highlight>
                  <a:srgbClr val="FFFFFF"/>
                </a:highlight>
                <a:latin typeface="Oswald"/>
                <a:ea typeface="Oswald"/>
                <a:cs typeface="Oswald"/>
                <a:sym typeface="Oswald"/>
              </a:rPr>
              <a:t>amplified the V4 region of the bacterial 16S rRNA using the 515F/806R primer set with Illumina adapters</a:t>
            </a:r>
            <a:endParaRPr b="1" sz="2500">
              <a:solidFill>
                <a:srgbClr val="273540"/>
              </a:solidFill>
              <a:highlight>
                <a:srgbClr val="FFFFFF"/>
              </a:highlight>
              <a:latin typeface="Oswald"/>
              <a:ea typeface="Oswald"/>
              <a:cs typeface="Oswald"/>
              <a:sym typeface="Oswald"/>
            </a:endParaRPr>
          </a:p>
          <a:p>
            <a:pPr indent="-387350" lvl="0" marL="457200" rtl="0" algn="ctr">
              <a:lnSpc>
                <a:spcPct val="115000"/>
              </a:lnSpc>
              <a:spcBef>
                <a:spcPts val="0"/>
              </a:spcBef>
              <a:spcAft>
                <a:spcPts val="0"/>
              </a:spcAft>
              <a:buClr>
                <a:srgbClr val="273540"/>
              </a:buClr>
              <a:buSzPts val="2500"/>
              <a:buFont typeface="Oswald"/>
              <a:buChar char="●"/>
            </a:pPr>
            <a:r>
              <a:rPr b="1" lang="en" sz="2500">
                <a:solidFill>
                  <a:srgbClr val="273540"/>
                </a:solidFill>
                <a:highlight>
                  <a:srgbClr val="FFFFFF"/>
                </a:highlight>
                <a:latin typeface="Oswald"/>
                <a:ea typeface="Oswald"/>
                <a:cs typeface="Oswald"/>
                <a:sym typeface="Oswald"/>
              </a:rPr>
              <a:t>Sequenced to 300 bp</a:t>
            </a:r>
            <a:endParaRPr b="1" sz="2500">
              <a:solidFill>
                <a:srgbClr val="273540"/>
              </a:solidFill>
              <a:highlight>
                <a:srgbClr val="FFFFFF"/>
              </a:highlight>
              <a:latin typeface="Oswald"/>
              <a:ea typeface="Oswald"/>
              <a:cs typeface="Oswald"/>
              <a:sym typeface="Oswald"/>
            </a:endParaRPr>
          </a:p>
          <a:p>
            <a:pPr indent="-387350" lvl="0" marL="457200" rtl="0" algn="ctr">
              <a:lnSpc>
                <a:spcPct val="115000"/>
              </a:lnSpc>
              <a:spcBef>
                <a:spcPts val="0"/>
              </a:spcBef>
              <a:spcAft>
                <a:spcPts val="0"/>
              </a:spcAft>
              <a:buClr>
                <a:srgbClr val="273540"/>
              </a:buClr>
              <a:buSzPts val="2500"/>
              <a:buFont typeface="Oswald"/>
              <a:buChar char="●"/>
            </a:pPr>
            <a:r>
              <a:rPr b="1" lang="en" sz="2500">
                <a:solidFill>
                  <a:srgbClr val="273540"/>
                </a:solidFill>
                <a:highlight>
                  <a:srgbClr val="FFFFFF"/>
                </a:highlight>
                <a:latin typeface="Oswald"/>
                <a:ea typeface="Oswald"/>
                <a:cs typeface="Oswald"/>
                <a:sym typeface="Oswald"/>
              </a:rPr>
              <a:t>Normalized to depth of 1200 reads, yielding 122 ASVs</a:t>
            </a:r>
            <a:endParaRPr sz="2500">
              <a:latin typeface="Oswald"/>
              <a:ea typeface="Oswald"/>
              <a:cs typeface="Oswald"/>
              <a:sym typeface="Oswa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213300" y="445025"/>
            <a:ext cx="8717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highlight>
                  <a:srgbClr val="BEE583"/>
                </a:highlight>
              </a:rPr>
              <a:t>Alpha diversity metrics show positive *block relationship</a:t>
            </a:r>
            <a:endParaRPr>
              <a:highlight>
                <a:srgbClr val="BEE583"/>
              </a:highlight>
            </a:endParaRPr>
          </a:p>
        </p:txBody>
      </p:sp>
      <p:sp>
        <p:nvSpPr>
          <p:cNvPr id="119" name="Google Shape;119;p21"/>
          <p:cNvSpPr txBox="1"/>
          <p:nvPr>
            <p:ph idx="1" type="body"/>
          </p:nvPr>
        </p:nvSpPr>
        <p:spPr>
          <a:xfrm>
            <a:off x="311700" y="1234075"/>
            <a:ext cx="86190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highlight>
                <a:schemeClr val="lt1"/>
              </a:highlight>
            </a:endParaRPr>
          </a:p>
          <a:p>
            <a:pPr indent="0" lvl="0" marL="0" rtl="0" algn="l">
              <a:spcBef>
                <a:spcPts val="1200"/>
              </a:spcBef>
              <a:spcAft>
                <a:spcPts val="0"/>
              </a:spcAft>
              <a:buNone/>
            </a:pPr>
            <a:r>
              <a:rPr lang="en">
                <a:highlight>
                  <a:schemeClr val="lt1"/>
                </a:highlight>
              </a:rPr>
              <a:t>Richness differed significantly across blocks</a:t>
            </a:r>
            <a:endParaRPr>
              <a:highlight>
                <a:schemeClr val="lt1"/>
              </a:highlight>
            </a:endParaRPr>
          </a:p>
          <a:p>
            <a:pPr indent="0" lvl="0" marL="457200" rtl="0" algn="l">
              <a:spcBef>
                <a:spcPts val="0"/>
              </a:spcBef>
              <a:spcAft>
                <a:spcPts val="0"/>
              </a:spcAft>
              <a:buNone/>
            </a:pPr>
            <a:r>
              <a:rPr lang="en" sz="1500">
                <a:solidFill>
                  <a:schemeClr val="accent2"/>
                </a:solidFill>
                <a:highlight>
                  <a:schemeClr val="lt1"/>
                </a:highlight>
              </a:rPr>
              <a:t>(Kruskal–Wallis χ² = 45.4, df = 9, p &lt; 0.001)</a:t>
            </a:r>
            <a:endParaRPr sz="1500">
              <a:solidFill>
                <a:schemeClr val="accent2"/>
              </a:solidFill>
              <a:highlight>
                <a:schemeClr val="lt1"/>
              </a:highlight>
            </a:endParaRPr>
          </a:p>
          <a:p>
            <a:pPr indent="0" lvl="0" marL="0" rtl="0" algn="l">
              <a:spcBef>
                <a:spcPts val="1200"/>
              </a:spcBef>
              <a:spcAft>
                <a:spcPts val="0"/>
              </a:spcAft>
              <a:buNone/>
            </a:pPr>
            <a:r>
              <a:rPr lang="en">
                <a:highlight>
                  <a:schemeClr val="lt1"/>
                </a:highlight>
              </a:rPr>
              <a:t>Diversity increased significantly across blocks for all metrics</a:t>
            </a:r>
            <a:endParaRPr>
              <a:highlight>
                <a:schemeClr val="lt1"/>
              </a:highlight>
            </a:endParaRPr>
          </a:p>
          <a:p>
            <a:pPr indent="0" lvl="0" marL="457200" rtl="0" algn="l">
              <a:spcBef>
                <a:spcPts val="0"/>
              </a:spcBef>
              <a:spcAft>
                <a:spcPts val="0"/>
              </a:spcAft>
              <a:buNone/>
            </a:pPr>
            <a:r>
              <a:rPr lang="en" sz="1500">
                <a:solidFill>
                  <a:schemeClr val="accent2"/>
                </a:solidFill>
                <a:highlight>
                  <a:schemeClr val="lt1"/>
                </a:highlight>
              </a:rPr>
              <a:t>(</a:t>
            </a:r>
            <a:r>
              <a:rPr lang="en" sz="1500">
                <a:solidFill>
                  <a:schemeClr val="accent2"/>
                </a:solidFill>
                <a:highlight>
                  <a:schemeClr val="lt1"/>
                </a:highlight>
              </a:rPr>
              <a:t>Spearman ρ ≈ 0.56–0.58, p &lt; 10⁻¹¹)</a:t>
            </a:r>
            <a:endParaRPr sz="1500">
              <a:solidFill>
                <a:schemeClr val="accent2"/>
              </a:solidFill>
              <a:highlight>
                <a:schemeClr val="lt1"/>
              </a:highlight>
            </a:endParaRPr>
          </a:p>
          <a:p>
            <a:pPr indent="0" lvl="0" marL="0" rtl="0" algn="l">
              <a:spcBef>
                <a:spcPts val="1200"/>
              </a:spcBef>
              <a:spcAft>
                <a:spcPts val="0"/>
              </a:spcAft>
              <a:buNone/>
            </a:pPr>
            <a:r>
              <a:t/>
            </a:r>
            <a:endParaRPr>
              <a:highlight>
                <a:schemeClr val="lt1"/>
              </a:highlight>
            </a:endParaRPr>
          </a:p>
          <a:p>
            <a:pPr indent="0" lvl="0" marL="0" rtl="0" algn="l">
              <a:spcBef>
                <a:spcPts val="1200"/>
              </a:spcBef>
              <a:spcAft>
                <a:spcPts val="1200"/>
              </a:spcAft>
              <a:buClr>
                <a:schemeClr val="dk2"/>
              </a:buClr>
              <a:buSzPts val="1100"/>
              <a:buFont typeface="Arial"/>
              <a:buNone/>
            </a:pPr>
            <a:r>
              <a:t/>
            </a:r>
            <a:endParaRPr>
              <a:highlight>
                <a:schemeClr val="lt1"/>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p:cNvPicPr preferRelativeResize="0"/>
          <p:nvPr/>
        </p:nvPicPr>
        <p:blipFill>
          <a:blip r:embed="rId3">
            <a:alphaModFix/>
          </a:blip>
          <a:stretch>
            <a:fillRect/>
          </a:stretch>
        </p:blipFill>
        <p:spPr>
          <a:xfrm>
            <a:off x="0" y="584099"/>
            <a:ext cx="8354450" cy="4390200"/>
          </a:xfrm>
          <a:prstGeom prst="rect">
            <a:avLst/>
          </a:prstGeom>
          <a:noFill/>
          <a:ln>
            <a:noFill/>
          </a:ln>
        </p:spPr>
      </p:pic>
      <p:sp>
        <p:nvSpPr>
          <p:cNvPr id="125" name="Google Shape;125;p22"/>
          <p:cNvSpPr/>
          <p:nvPr/>
        </p:nvSpPr>
        <p:spPr>
          <a:xfrm>
            <a:off x="552125" y="689825"/>
            <a:ext cx="6934500" cy="3783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126" name="Google Shape;12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highlight>
                  <a:srgbClr val="BEE583"/>
                </a:highlight>
              </a:rPr>
              <a:t>Explaining growth stages</a:t>
            </a:r>
            <a:endParaRPr>
              <a:highlight>
                <a:srgbClr val="BEE583"/>
              </a:highlight>
            </a:endParaRPr>
          </a:p>
        </p:txBody>
      </p:sp>
      <p:sp>
        <p:nvSpPr>
          <p:cNvPr id="127" name="Google Shape;127;p22"/>
          <p:cNvSpPr/>
          <p:nvPr/>
        </p:nvSpPr>
        <p:spPr>
          <a:xfrm>
            <a:off x="608224" y="947375"/>
            <a:ext cx="1333200" cy="3783300"/>
          </a:xfrm>
          <a:prstGeom prst="rect">
            <a:avLst/>
          </a:prstGeom>
          <a:solidFill>
            <a:srgbClr val="D19EB5">
              <a:alpha val="34180"/>
            </a:srgbClr>
          </a:solidFill>
          <a:ln cap="flat" cmpd="sng" w="10150">
            <a:solidFill>
              <a:srgbClr val="F6D7B8"/>
            </a:solidFill>
            <a:prstDash val="solid"/>
            <a:round/>
            <a:headEnd len="sm" w="sm" type="none"/>
            <a:tailEnd len="sm" w="sm" type="none"/>
          </a:ln>
        </p:spPr>
        <p:txBody>
          <a:bodyPr anchorCtr="0" anchor="ctr" bIns="97500" lIns="97500" spcFirstLastPara="1" rIns="97500" wrap="square" tIns="97500">
            <a:noAutofit/>
          </a:bodyPr>
          <a:lstStyle/>
          <a:p>
            <a:pPr indent="0" lvl="0" marL="0" rtl="0" algn="ctr">
              <a:spcBef>
                <a:spcPts val="0"/>
              </a:spcBef>
              <a:spcAft>
                <a:spcPts val="0"/>
              </a:spcAft>
              <a:buNone/>
            </a:pPr>
            <a:r>
              <a:rPr lang="en" sz="1493">
                <a:latin typeface="Playfair Display"/>
                <a:ea typeface="Playfair Display"/>
                <a:cs typeface="Playfair Display"/>
                <a:sym typeface="Playfair Display"/>
              </a:rPr>
              <a:t>Leafing</a:t>
            </a:r>
            <a:endParaRPr sz="1493">
              <a:latin typeface="Playfair Display"/>
              <a:ea typeface="Playfair Display"/>
              <a:cs typeface="Playfair Display"/>
              <a:sym typeface="Playfair Display"/>
            </a:endParaRPr>
          </a:p>
        </p:txBody>
      </p:sp>
      <p:sp>
        <p:nvSpPr>
          <p:cNvPr id="128" name="Google Shape;128;p22"/>
          <p:cNvSpPr/>
          <p:nvPr/>
        </p:nvSpPr>
        <p:spPr>
          <a:xfrm>
            <a:off x="1847450" y="947375"/>
            <a:ext cx="860700" cy="3783300"/>
          </a:xfrm>
          <a:prstGeom prst="rect">
            <a:avLst/>
          </a:prstGeom>
          <a:solidFill>
            <a:srgbClr val="A3F4CD">
              <a:alpha val="27219"/>
            </a:srgbClr>
          </a:solidFill>
          <a:ln cap="flat" cmpd="sng" w="10150">
            <a:solidFill>
              <a:schemeClr val="accent6"/>
            </a:solidFill>
            <a:prstDash val="solid"/>
            <a:round/>
            <a:headEnd len="sm" w="sm" type="none"/>
            <a:tailEnd len="sm" w="sm" type="none"/>
          </a:ln>
        </p:spPr>
        <p:txBody>
          <a:bodyPr anchorCtr="0" anchor="ctr" bIns="97500" lIns="97500" spcFirstLastPara="1" rIns="97500" wrap="square" tIns="97500">
            <a:noAutofit/>
          </a:bodyPr>
          <a:lstStyle/>
          <a:p>
            <a:pPr indent="0" lvl="0" marL="0" rtl="0" algn="ctr">
              <a:spcBef>
                <a:spcPts val="0"/>
              </a:spcBef>
              <a:spcAft>
                <a:spcPts val="0"/>
              </a:spcAft>
              <a:buNone/>
            </a:pPr>
            <a:r>
              <a:rPr lang="en" sz="1493">
                <a:latin typeface="Playfair Display"/>
                <a:ea typeface="Playfair Display"/>
                <a:cs typeface="Playfair Display"/>
                <a:sym typeface="Playfair Display"/>
              </a:rPr>
              <a:t>Bolting</a:t>
            </a:r>
            <a:endParaRPr sz="1493">
              <a:latin typeface="Playfair Display"/>
              <a:ea typeface="Playfair Display"/>
              <a:cs typeface="Playfair Display"/>
              <a:sym typeface="Playfair Display"/>
            </a:endParaRPr>
          </a:p>
        </p:txBody>
      </p:sp>
      <p:sp>
        <p:nvSpPr>
          <p:cNvPr id="129" name="Google Shape;129;p22"/>
          <p:cNvSpPr/>
          <p:nvPr/>
        </p:nvSpPr>
        <p:spPr>
          <a:xfrm>
            <a:off x="2708325" y="932100"/>
            <a:ext cx="734400" cy="3798600"/>
          </a:xfrm>
          <a:prstGeom prst="rect">
            <a:avLst/>
          </a:prstGeom>
          <a:solidFill>
            <a:srgbClr val="837FBB">
              <a:alpha val="34180"/>
            </a:srgbClr>
          </a:solidFill>
          <a:ln cap="flat" cmpd="sng" w="9525">
            <a:solidFill>
              <a:srgbClr val="837FB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layfair Display"/>
                <a:ea typeface="Playfair Display"/>
                <a:cs typeface="Playfair Display"/>
                <a:sym typeface="Playfair Display"/>
              </a:rPr>
              <a:t>Flowering</a:t>
            </a:r>
            <a:endParaRPr>
              <a:latin typeface="Playfair Display"/>
              <a:ea typeface="Playfair Display"/>
              <a:cs typeface="Playfair Display"/>
              <a:sym typeface="Playfair Display"/>
            </a:endParaRPr>
          </a:p>
        </p:txBody>
      </p:sp>
      <p:sp>
        <p:nvSpPr>
          <p:cNvPr id="130" name="Google Shape;130;p22"/>
          <p:cNvSpPr/>
          <p:nvPr/>
        </p:nvSpPr>
        <p:spPr>
          <a:xfrm>
            <a:off x="3442775" y="932100"/>
            <a:ext cx="1377000" cy="3798600"/>
          </a:xfrm>
          <a:prstGeom prst="rect">
            <a:avLst/>
          </a:prstGeom>
          <a:solidFill>
            <a:srgbClr val="A8C5CE">
              <a:alpha val="34180"/>
            </a:srgbClr>
          </a:solidFill>
          <a:ln cap="flat" cmpd="sng" w="9525">
            <a:solidFill>
              <a:srgbClr val="A8C5C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layfair Display"/>
                <a:ea typeface="Playfair Display"/>
                <a:cs typeface="Playfair Display"/>
                <a:sym typeface="Playfair Display"/>
              </a:rPr>
              <a:t>Seed developing</a:t>
            </a:r>
            <a:endParaRPr>
              <a:latin typeface="Playfair Display"/>
              <a:ea typeface="Playfair Display"/>
              <a:cs typeface="Playfair Display"/>
              <a:sym typeface="Playfair Display"/>
            </a:endParaRPr>
          </a:p>
        </p:txBody>
      </p:sp>
      <p:sp>
        <p:nvSpPr>
          <p:cNvPr id="131" name="Google Shape;131;p22"/>
          <p:cNvSpPr/>
          <p:nvPr/>
        </p:nvSpPr>
        <p:spPr>
          <a:xfrm>
            <a:off x="4819875" y="932100"/>
            <a:ext cx="2666700" cy="3798600"/>
          </a:xfrm>
          <a:prstGeom prst="rect">
            <a:avLst/>
          </a:prstGeom>
          <a:solidFill>
            <a:srgbClr val="42E998">
              <a:alpha val="19620"/>
            </a:srgbClr>
          </a:solidFill>
          <a:ln cap="flat" cmpd="sng" w="9525">
            <a:solidFill>
              <a:srgbClr val="42E99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layfair Display"/>
                <a:ea typeface="Playfair Display"/>
                <a:cs typeface="Playfair Display"/>
                <a:sym typeface="Playfair Display"/>
              </a:rPr>
              <a:t>Ripening</a:t>
            </a:r>
            <a:endParaRPr>
              <a:latin typeface="Playfair Display"/>
              <a:ea typeface="Playfair Display"/>
              <a:cs typeface="Playfair Display"/>
              <a:sym typeface="Playfair Displ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3"/>
          <p:cNvPicPr preferRelativeResize="0"/>
          <p:nvPr/>
        </p:nvPicPr>
        <p:blipFill>
          <a:blip r:embed="rId3">
            <a:alphaModFix/>
          </a:blip>
          <a:stretch>
            <a:fillRect/>
          </a:stretch>
        </p:blipFill>
        <p:spPr>
          <a:xfrm>
            <a:off x="0" y="584099"/>
            <a:ext cx="8354450" cy="4390200"/>
          </a:xfrm>
          <a:prstGeom prst="rect">
            <a:avLst/>
          </a:prstGeom>
          <a:noFill/>
          <a:ln>
            <a:noFill/>
          </a:ln>
        </p:spPr>
      </p:pic>
      <p:sp>
        <p:nvSpPr>
          <p:cNvPr id="137" name="Google Shape;13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highlight>
                  <a:srgbClr val="BEE583"/>
                </a:highlight>
              </a:rPr>
              <a:t>Richness increases over time</a:t>
            </a:r>
            <a:endParaRPr>
              <a:highlight>
                <a:srgbClr val="BEE583"/>
              </a:highlight>
            </a:endParaRPr>
          </a:p>
        </p:txBody>
      </p:sp>
      <p:sp>
        <p:nvSpPr>
          <p:cNvPr id="138" name="Google Shape;138;p23"/>
          <p:cNvSpPr txBox="1"/>
          <p:nvPr/>
        </p:nvSpPr>
        <p:spPr>
          <a:xfrm>
            <a:off x="7487839" y="4037045"/>
            <a:ext cx="1679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333333"/>
                </a:solidFill>
                <a:latin typeface="Oswald"/>
                <a:ea typeface="Oswald"/>
                <a:cs typeface="Oswald"/>
                <a:sym typeface="Oswald"/>
              </a:rPr>
              <a:t>rho      0.5624032</a:t>
            </a:r>
            <a:endParaRPr b="1" sz="1200">
              <a:solidFill>
                <a:srgbClr val="333333"/>
              </a:solidFill>
              <a:latin typeface="Oswald"/>
              <a:ea typeface="Oswald"/>
              <a:cs typeface="Oswald"/>
              <a:sym typeface="Oswald"/>
            </a:endParaRPr>
          </a:p>
          <a:p>
            <a:pPr indent="0" lvl="0" marL="0" rtl="0" algn="l">
              <a:spcBef>
                <a:spcPts val="0"/>
              </a:spcBef>
              <a:spcAft>
                <a:spcPts val="0"/>
              </a:spcAft>
              <a:buNone/>
            </a:pPr>
            <a:r>
              <a:rPr b="1" lang="en" sz="1200">
                <a:solidFill>
                  <a:srgbClr val="333333"/>
                </a:solidFill>
                <a:latin typeface="Oswald"/>
                <a:ea typeface="Oswald"/>
                <a:cs typeface="Oswald"/>
                <a:sym typeface="Oswald"/>
              </a:rPr>
              <a:t>p_value      1.570530e-11</a:t>
            </a:r>
            <a:endParaRPr b="1" sz="1200">
              <a:solidFill>
                <a:srgbClr val="333333"/>
              </a:solidFill>
              <a:latin typeface="Oswald"/>
              <a:ea typeface="Oswald"/>
              <a:cs typeface="Oswald"/>
              <a:sym typeface="Oswa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4"/>
          <p:cNvPicPr preferRelativeResize="0"/>
          <p:nvPr/>
        </p:nvPicPr>
        <p:blipFill>
          <a:blip r:embed="rId3">
            <a:alphaModFix/>
          </a:blip>
          <a:stretch>
            <a:fillRect/>
          </a:stretch>
        </p:blipFill>
        <p:spPr>
          <a:xfrm>
            <a:off x="0" y="584099"/>
            <a:ext cx="8354450" cy="4390200"/>
          </a:xfrm>
          <a:prstGeom prst="rect">
            <a:avLst/>
          </a:prstGeom>
          <a:noFill/>
          <a:ln>
            <a:noFill/>
          </a:ln>
        </p:spPr>
      </p:pic>
      <p:sp>
        <p:nvSpPr>
          <p:cNvPr id="144" name="Google Shape;14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highlight>
                  <a:srgbClr val="BEE583"/>
                </a:highlight>
              </a:rPr>
              <a:t>Richness increases over time</a:t>
            </a:r>
            <a:endParaRPr>
              <a:highlight>
                <a:srgbClr val="BEE583"/>
              </a:highlight>
            </a:endParaRPr>
          </a:p>
        </p:txBody>
      </p:sp>
      <p:sp>
        <p:nvSpPr>
          <p:cNvPr id="145" name="Google Shape;145;p24"/>
          <p:cNvSpPr txBox="1"/>
          <p:nvPr/>
        </p:nvSpPr>
        <p:spPr>
          <a:xfrm>
            <a:off x="7487839" y="4037045"/>
            <a:ext cx="1679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333333"/>
                </a:solidFill>
                <a:latin typeface="Oswald"/>
                <a:ea typeface="Oswald"/>
                <a:cs typeface="Oswald"/>
                <a:sym typeface="Oswald"/>
              </a:rPr>
              <a:t>rho      0.5624032</a:t>
            </a:r>
            <a:endParaRPr b="1" sz="1200">
              <a:solidFill>
                <a:srgbClr val="333333"/>
              </a:solidFill>
              <a:latin typeface="Oswald"/>
              <a:ea typeface="Oswald"/>
              <a:cs typeface="Oswald"/>
              <a:sym typeface="Oswald"/>
            </a:endParaRPr>
          </a:p>
          <a:p>
            <a:pPr indent="0" lvl="0" marL="0" rtl="0" algn="l">
              <a:spcBef>
                <a:spcPts val="0"/>
              </a:spcBef>
              <a:spcAft>
                <a:spcPts val="0"/>
              </a:spcAft>
              <a:buNone/>
            </a:pPr>
            <a:r>
              <a:rPr b="1" lang="en" sz="1200">
                <a:solidFill>
                  <a:srgbClr val="333333"/>
                </a:solidFill>
                <a:latin typeface="Oswald"/>
                <a:ea typeface="Oswald"/>
                <a:cs typeface="Oswald"/>
                <a:sym typeface="Oswald"/>
              </a:rPr>
              <a:t>p_value      1.570530e-11</a:t>
            </a:r>
            <a:endParaRPr b="1" sz="1200">
              <a:solidFill>
                <a:srgbClr val="333333"/>
              </a:solidFill>
              <a:latin typeface="Oswald"/>
              <a:ea typeface="Oswald"/>
              <a:cs typeface="Oswald"/>
              <a:sym typeface="Oswald"/>
            </a:endParaRPr>
          </a:p>
        </p:txBody>
      </p:sp>
      <p:sp>
        <p:nvSpPr>
          <p:cNvPr id="146" name="Google Shape;146;p24"/>
          <p:cNvSpPr/>
          <p:nvPr/>
        </p:nvSpPr>
        <p:spPr>
          <a:xfrm>
            <a:off x="608224" y="947375"/>
            <a:ext cx="1333200" cy="3783300"/>
          </a:xfrm>
          <a:prstGeom prst="rect">
            <a:avLst/>
          </a:prstGeom>
          <a:solidFill>
            <a:srgbClr val="D19EB5">
              <a:alpha val="34180"/>
            </a:srgbClr>
          </a:solidFill>
          <a:ln cap="flat" cmpd="sng" w="10150">
            <a:solidFill>
              <a:srgbClr val="F6D7B8"/>
            </a:solidFill>
            <a:prstDash val="solid"/>
            <a:round/>
            <a:headEnd len="sm" w="sm" type="none"/>
            <a:tailEnd len="sm" w="sm" type="none"/>
          </a:ln>
        </p:spPr>
        <p:txBody>
          <a:bodyPr anchorCtr="0" anchor="ctr" bIns="97500" lIns="97500" spcFirstLastPara="1" rIns="97500" wrap="square" tIns="97500">
            <a:noAutofit/>
          </a:bodyPr>
          <a:lstStyle/>
          <a:p>
            <a:pPr indent="0" lvl="0" marL="0" rtl="0" algn="ctr">
              <a:spcBef>
                <a:spcPts val="0"/>
              </a:spcBef>
              <a:spcAft>
                <a:spcPts val="0"/>
              </a:spcAft>
              <a:buNone/>
            </a:pPr>
            <a:r>
              <a:rPr lang="en" sz="1493">
                <a:latin typeface="Playfair Display"/>
                <a:ea typeface="Playfair Display"/>
                <a:cs typeface="Playfair Display"/>
                <a:sym typeface="Playfair Display"/>
              </a:rPr>
              <a:t>Leafing</a:t>
            </a:r>
            <a:endParaRPr sz="1493">
              <a:latin typeface="Playfair Display"/>
              <a:ea typeface="Playfair Display"/>
              <a:cs typeface="Playfair Display"/>
              <a:sym typeface="Playfair Display"/>
            </a:endParaRPr>
          </a:p>
        </p:txBody>
      </p:sp>
      <p:sp>
        <p:nvSpPr>
          <p:cNvPr id="147" name="Google Shape;147;p24"/>
          <p:cNvSpPr/>
          <p:nvPr/>
        </p:nvSpPr>
        <p:spPr>
          <a:xfrm>
            <a:off x="1872500" y="947375"/>
            <a:ext cx="835500" cy="3783300"/>
          </a:xfrm>
          <a:prstGeom prst="rect">
            <a:avLst/>
          </a:prstGeom>
          <a:solidFill>
            <a:srgbClr val="A3F4CD">
              <a:alpha val="27219"/>
            </a:srgbClr>
          </a:solidFill>
          <a:ln cap="flat" cmpd="sng" w="10150">
            <a:solidFill>
              <a:schemeClr val="accent6"/>
            </a:solidFill>
            <a:prstDash val="solid"/>
            <a:round/>
            <a:headEnd len="sm" w="sm" type="none"/>
            <a:tailEnd len="sm" w="sm" type="none"/>
          </a:ln>
        </p:spPr>
        <p:txBody>
          <a:bodyPr anchorCtr="0" anchor="ctr" bIns="97500" lIns="97500" spcFirstLastPara="1" rIns="97500" wrap="square" tIns="97500">
            <a:noAutofit/>
          </a:bodyPr>
          <a:lstStyle/>
          <a:p>
            <a:pPr indent="0" lvl="0" marL="0" rtl="0" algn="ctr">
              <a:spcBef>
                <a:spcPts val="0"/>
              </a:spcBef>
              <a:spcAft>
                <a:spcPts val="0"/>
              </a:spcAft>
              <a:buNone/>
            </a:pPr>
            <a:r>
              <a:rPr lang="en" sz="1493">
                <a:latin typeface="Playfair Display"/>
                <a:ea typeface="Playfair Display"/>
                <a:cs typeface="Playfair Display"/>
                <a:sym typeface="Playfair Display"/>
              </a:rPr>
              <a:t>Bolting</a:t>
            </a:r>
            <a:endParaRPr sz="1493">
              <a:latin typeface="Playfair Display"/>
              <a:ea typeface="Playfair Display"/>
              <a:cs typeface="Playfair Display"/>
              <a:sym typeface="Playfair Display"/>
            </a:endParaRPr>
          </a:p>
        </p:txBody>
      </p:sp>
      <p:sp>
        <p:nvSpPr>
          <p:cNvPr id="148" name="Google Shape;148;p24"/>
          <p:cNvSpPr/>
          <p:nvPr/>
        </p:nvSpPr>
        <p:spPr>
          <a:xfrm>
            <a:off x="2708325" y="932100"/>
            <a:ext cx="734400" cy="3798600"/>
          </a:xfrm>
          <a:prstGeom prst="rect">
            <a:avLst/>
          </a:prstGeom>
          <a:solidFill>
            <a:srgbClr val="837FBB">
              <a:alpha val="34180"/>
            </a:srgbClr>
          </a:solidFill>
          <a:ln cap="flat" cmpd="sng" w="9525">
            <a:solidFill>
              <a:srgbClr val="837FB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layfair Display"/>
                <a:ea typeface="Playfair Display"/>
                <a:cs typeface="Playfair Display"/>
                <a:sym typeface="Playfair Display"/>
              </a:rPr>
              <a:t>Flowering</a:t>
            </a:r>
            <a:endParaRPr>
              <a:latin typeface="Playfair Display"/>
              <a:ea typeface="Playfair Display"/>
              <a:cs typeface="Playfair Display"/>
              <a:sym typeface="Playfair Display"/>
            </a:endParaRPr>
          </a:p>
        </p:txBody>
      </p:sp>
      <p:sp>
        <p:nvSpPr>
          <p:cNvPr id="149" name="Google Shape;149;p24"/>
          <p:cNvSpPr/>
          <p:nvPr/>
        </p:nvSpPr>
        <p:spPr>
          <a:xfrm>
            <a:off x="3442775" y="932100"/>
            <a:ext cx="1377000" cy="3798600"/>
          </a:xfrm>
          <a:prstGeom prst="rect">
            <a:avLst/>
          </a:prstGeom>
          <a:solidFill>
            <a:srgbClr val="A8C5CE">
              <a:alpha val="34180"/>
            </a:srgbClr>
          </a:solidFill>
          <a:ln cap="flat" cmpd="sng" w="9525">
            <a:solidFill>
              <a:srgbClr val="A8C5C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layfair Display"/>
                <a:ea typeface="Playfair Display"/>
                <a:cs typeface="Playfair Display"/>
                <a:sym typeface="Playfair Display"/>
              </a:rPr>
              <a:t>Seed developing</a:t>
            </a:r>
            <a:endParaRPr>
              <a:latin typeface="Playfair Display"/>
              <a:ea typeface="Playfair Display"/>
              <a:cs typeface="Playfair Display"/>
              <a:sym typeface="Playfair Display"/>
            </a:endParaRPr>
          </a:p>
        </p:txBody>
      </p:sp>
      <p:sp>
        <p:nvSpPr>
          <p:cNvPr id="150" name="Google Shape;150;p24"/>
          <p:cNvSpPr/>
          <p:nvPr/>
        </p:nvSpPr>
        <p:spPr>
          <a:xfrm>
            <a:off x="4819875" y="932100"/>
            <a:ext cx="2666700" cy="3798600"/>
          </a:xfrm>
          <a:prstGeom prst="rect">
            <a:avLst/>
          </a:prstGeom>
          <a:solidFill>
            <a:srgbClr val="42E998">
              <a:alpha val="19620"/>
            </a:srgbClr>
          </a:solidFill>
          <a:ln cap="flat" cmpd="sng" w="9525">
            <a:solidFill>
              <a:srgbClr val="42E99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a:p>
            <a:pPr indent="0" lvl="0" marL="0" rtl="0" algn="ctr">
              <a:spcBef>
                <a:spcPts val="0"/>
              </a:spcBef>
              <a:spcAft>
                <a:spcPts val="0"/>
              </a:spcAft>
              <a:buNone/>
            </a:pPr>
            <a:r>
              <a:t/>
            </a:r>
            <a:endParaRPr>
              <a:latin typeface="Playfair Display"/>
              <a:ea typeface="Playfair Display"/>
              <a:cs typeface="Playfair Display"/>
              <a:sym typeface="Playfair Display"/>
            </a:endParaRPr>
          </a:p>
          <a:p>
            <a:pPr indent="0" lvl="0" marL="0" rtl="0" algn="ctr">
              <a:spcBef>
                <a:spcPts val="0"/>
              </a:spcBef>
              <a:spcAft>
                <a:spcPts val="0"/>
              </a:spcAft>
              <a:buNone/>
            </a:pPr>
            <a:r>
              <a:t/>
            </a:r>
            <a:endParaRPr>
              <a:latin typeface="Playfair Display"/>
              <a:ea typeface="Playfair Display"/>
              <a:cs typeface="Playfair Display"/>
              <a:sym typeface="Playfair Display"/>
            </a:endParaRPr>
          </a:p>
          <a:p>
            <a:pPr indent="0" lvl="0" marL="0" rtl="0" algn="ctr">
              <a:spcBef>
                <a:spcPts val="0"/>
              </a:spcBef>
              <a:spcAft>
                <a:spcPts val="0"/>
              </a:spcAft>
              <a:buNone/>
            </a:pPr>
            <a:r>
              <a:t/>
            </a:r>
            <a:endParaRPr>
              <a:latin typeface="Playfair Display"/>
              <a:ea typeface="Playfair Display"/>
              <a:cs typeface="Playfair Display"/>
              <a:sym typeface="Playfair Display"/>
            </a:endParaRPr>
          </a:p>
          <a:p>
            <a:pPr indent="0" lvl="0" marL="0" rtl="0" algn="ctr">
              <a:spcBef>
                <a:spcPts val="0"/>
              </a:spcBef>
              <a:spcAft>
                <a:spcPts val="0"/>
              </a:spcAft>
              <a:buNone/>
            </a:pPr>
            <a:r>
              <a:rPr lang="en">
                <a:latin typeface="Playfair Display"/>
                <a:ea typeface="Playfair Display"/>
                <a:cs typeface="Playfair Display"/>
                <a:sym typeface="Playfair Display"/>
              </a:rPr>
              <a:t>Ripening</a:t>
            </a:r>
            <a:endParaRPr>
              <a:latin typeface="Playfair Display"/>
              <a:ea typeface="Playfair Display"/>
              <a:cs typeface="Playfair Display"/>
              <a:sym typeface="Playfair Displ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pic>
        <p:nvPicPr>
          <p:cNvPr id="155" name="Google Shape;155;p25"/>
          <p:cNvPicPr preferRelativeResize="0"/>
          <p:nvPr/>
        </p:nvPicPr>
        <p:blipFill rotWithShape="1">
          <a:blip r:embed="rId4">
            <a:alphaModFix/>
          </a:blip>
          <a:srcRect b="5355" l="0" r="1235" t="10710"/>
          <a:stretch/>
        </p:blipFill>
        <p:spPr>
          <a:xfrm>
            <a:off x="-95050" y="-89650"/>
            <a:ext cx="9239050" cy="5423875"/>
          </a:xfrm>
          <a:prstGeom prst="rect">
            <a:avLst/>
          </a:prstGeom>
          <a:noFill/>
          <a:ln>
            <a:noFill/>
          </a:ln>
        </p:spPr>
      </p:pic>
      <p:sp>
        <p:nvSpPr>
          <p:cNvPr id="156" name="Google Shape;156;p25"/>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pic>
        <p:nvPicPr>
          <p:cNvPr id="157" name="Google Shape;157;p25"/>
          <p:cNvPicPr preferRelativeResize="0"/>
          <p:nvPr/>
        </p:nvPicPr>
        <p:blipFill>
          <a:blip r:embed="rId5">
            <a:alphaModFix/>
          </a:blip>
          <a:stretch>
            <a:fillRect/>
          </a:stretch>
        </p:blipFill>
        <p:spPr>
          <a:xfrm>
            <a:off x="0" y="188988"/>
            <a:ext cx="9144000" cy="47655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idx="1" type="body"/>
          </p:nvPr>
        </p:nvSpPr>
        <p:spPr>
          <a:xfrm>
            <a:off x="140500" y="569750"/>
            <a:ext cx="3431400" cy="3179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3"/>
              <a:buNone/>
            </a:pPr>
            <a:r>
              <a:t/>
            </a:r>
            <a:endParaRPr sz="1030">
              <a:highlight>
                <a:schemeClr val="lt1"/>
              </a:highlight>
            </a:endParaRPr>
          </a:p>
          <a:p>
            <a:pPr indent="0" lvl="0" marL="0" rtl="0" algn="l">
              <a:lnSpc>
                <a:spcPct val="95000"/>
              </a:lnSpc>
              <a:spcBef>
                <a:spcPts val="1200"/>
              </a:spcBef>
              <a:spcAft>
                <a:spcPts val="0"/>
              </a:spcAft>
              <a:buSzPts val="853"/>
              <a:buNone/>
            </a:pPr>
            <a:r>
              <a:rPr lang="en" sz="1560">
                <a:highlight>
                  <a:schemeClr val="lt1"/>
                </a:highlight>
              </a:rPr>
              <a:t>A turnover of taxa between blocks is seen in Sorenson, suggesting rare taxa are more transient. They may change more frequently from environmental pressures.</a:t>
            </a:r>
            <a:endParaRPr sz="1560">
              <a:highlight>
                <a:schemeClr val="lt1"/>
              </a:highlight>
            </a:endParaRPr>
          </a:p>
          <a:p>
            <a:pPr indent="0" lvl="0" marL="0" rtl="0" algn="l">
              <a:lnSpc>
                <a:spcPct val="95000"/>
              </a:lnSpc>
              <a:spcBef>
                <a:spcPts val="1200"/>
              </a:spcBef>
              <a:spcAft>
                <a:spcPts val="0"/>
              </a:spcAft>
              <a:buClr>
                <a:schemeClr val="dk2"/>
              </a:buClr>
              <a:buSzPts val="853"/>
              <a:buFont typeface="Arial"/>
              <a:buNone/>
            </a:pPr>
            <a:r>
              <a:rPr lang="en" sz="1560">
                <a:highlight>
                  <a:schemeClr val="lt1"/>
                </a:highlight>
              </a:rPr>
              <a:t>Bray-Curtis suggests that relative abundance is more conserved than species presence/absence.</a:t>
            </a:r>
            <a:endParaRPr sz="1560">
              <a:highlight>
                <a:schemeClr val="lt1"/>
              </a:highlight>
            </a:endParaRPr>
          </a:p>
          <a:p>
            <a:pPr indent="0" lvl="0" marL="0" rtl="0" algn="l">
              <a:lnSpc>
                <a:spcPct val="95000"/>
              </a:lnSpc>
              <a:spcBef>
                <a:spcPts val="1200"/>
              </a:spcBef>
              <a:spcAft>
                <a:spcPts val="0"/>
              </a:spcAft>
              <a:buClr>
                <a:schemeClr val="dk2"/>
              </a:buClr>
              <a:buSzPts val="853"/>
              <a:buFont typeface="Arial"/>
              <a:buNone/>
            </a:pPr>
            <a:r>
              <a:t/>
            </a:r>
            <a:endParaRPr sz="1560">
              <a:highlight>
                <a:schemeClr val="lt1"/>
              </a:highlight>
            </a:endParaRPr>
          </a:p>
          <a:p>
            <a:pPr indent="0" lvl="0" marL="0" rtl="0" algn="l">
              <a:lnSpc>
                <a:spcPct val="95000"/>
              </a:lnSpc>
              <a:spcBef>
                <a:spcPts val="1200"/>
              </a:spcBef>
              <a:spcAft>
                <a:spcPts val="0"/>
              </a:spcAft>
              <a:buClr>
                <a:schemeClr val="dk2"/>
              </a:buClr>
              <a:buSzPts val="853"/>
              <a:buFont typeface="Arial"/>
              <a:buNone/>
            </a:pPr>
            <a:r>
              <a:rPr lang="en" sz="1560">
                <a:highlight>
                  <a:schemeClr val="lt1"/>
                </a:highlight>
                <a:latin typeface="Oswald"/>
                <a:ea typeface="Oswald"/>
                <a:cs typeface="Oswald"/>
                <a:sym typeface="Oswald"/>
              </a:rPr>
              <a:t>PERMANOVA</a:t>
            </a:r>
            <a:endParaRPr sz="1560">
              <a:highlight>
                <a:schemeClr val="lt1"/>
              </a:highlight>
              <a:latin typeface="Oswald"/>
              <a:ea typeface="Oswald"/>
              <a:cs typeface="Oswald"/>
              <a:sym typeface="Oswald"/>
            </a:endParaRPr>
          </a:p>
          <a:p>
            <a:pPr indent="0" lvl="0" marL="0" rtl="0" algn="l">
              <a:lnSpc>
                <a:spcPct val="95000"/>
              </a:lnSpc>
              <a:spcBef>
                <a:spcPts val="1200"/>
              </a:spcBef>
              <a:spcAft>
                <a:spcPts val="0"/>
              </a:spcAft>
              <a:buSzPts val="853"/>
              <a:buNone/>
            </a:pPr>
            <a:r>
              <a:t/>
            </a:r>
            <a:endParaRPr sz="1030">
              <a:highlight>
                <a:schemeClr val="lt1"/>
              </a:highlight>
            </a:endParaRPr>
          </a:p>
          <a:p>
            <a:pPr indent="0" lvl="0" marL="0" rtl="0" algn="l">
              <a:lnSpc>
                <a:spcPct val="95000"/>
              </a:lnSpc>
              <a:spcBef>
                <a:spcPts val="1200"/>
              </a:spcBef>
              <a:spcAft>
                <a:spcPts val="1200"/>
              </a:spcAft>
              <a:buSzPts val="853"/>
              <a:buNone/>
            </a:pPr>
            <a:r>
              <a:t/>
            </a:r>
            <a:endParaRPr sz="1030">
              <a:highlight>
                <a:schemeClr val="lt1"/>
              </a:highlight>
            </a:endParaRPr>
          </a:p>
        </p:txBody>
      </p:sp>
      <p:grpSp>
        <p:nvGrpSpPr>
          <p:cNvPr id="163" name="Google Shape;163;p26"/>
          <p:cNvGrpSpPr/>
          <p:nvPr/>
        </p:nvGrpSpPr>
        <p:grpSpPr>
          <a:xfrm>
            <a:off x="292439" y="3619844"/>
            <a:ext cx="4446995" cy="1262100"/>
            <a:chOff x="-2666611" y="4062394"/>
            <a:chExt cx="4446995" cy="1262100"/>
          </a:xfrm>
        </p:grpSpPr>
        <p:sp>
          <p:nvSpPr>
            <p:cNvPr id="164" name="Google Shape;164;p26"/>
            <p:cNvSpPr txBox="1"/>
            <p:nvPr/>
          </p:nvSpPr>
          <p:spPr>
            <a:xfrm>
              <a:off x="-2666611" y="4062394"/>
              <a:ext cx="3000000" cy="1262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a:solidFill>
                    <a:schemeClr val="dk2"/>
                  </a:solidFill>
                  <a:latin typeface="Oswald"/>
                  <a:ea typeface="Oswald"/>
                  <a:cs typeface="Oswald"/>
                  <a:sym typeface="Oswald"/>
                </a:rPr>
                <a:t>Sorensen:</a:t>
              </a:r>
              <a:endParaRPr b="1">
                <a:solidFill>
                  <a:schemeClr val="dk2"/>
                </a:solidFill>
                <a:latin typeface="Oswald"/>
                <a:ea typeface="Oswald"/>
                <a:cs typeface="Oswald"/>
                <a:sym typeface="Oswald"/>
              </a:endParaRPr>
            </a:p>
            <a:p>
              <a:pPr indent="0" lvl="0" marL="457200" rtl="0" algn="l">
                <a:lnSpc>
                  <a:spcPct val="100000"/>
                </a:lnSpc>
                <a:spcBef>
                  <a:spcPts val="0"/>
                </a:spcBef>
                <a:spcAft>
                  <a:spcPts val="0"/>
                </a:spcAft>
                <a:buNone/>
              </a:pPr>
              <a:r>
                <a:rPr lang="en">
                  <a:solidFill>
                    <a:schemeClr val="dk2"/>
                  </a:solidFill>
                  <a:latin typeface="Oswald"/>
                  <a:ea typeface="Oswald"/>
                  <a:cs typeface="Oswald"/>
                  <a:sym typeface="Oswald"/>
                </a:rPr>
                <a:t>R² = 0.192</a:t>
              </a:r>
              <a:endParaRPr>
                <a:solidFill>
                  <a:schemeClr val="dk2"/>
                </a:solidFill>
                <a:latin typeface="Oswald"/>
                <a:ea typeface="Oswald"/>
                <a:cs typeface="Oswald"/>
                <a:sym typeface="Oswald"/>
              </a:endParaRPr>
            </a:p>
            <a:p>
              <a:pPr indent="0" lvl="0" marL="457200" rtl="0" algn="l">
                <a:lnSpc>
                  <a:spcPct val="100000"/>
                </a:lnSpc>
                <a:spcBef>
                  <a:spcPts val="0"/>
                </a:spcBef>
                <a:spcAft>
                  <a:spcPts val="0"/>
                </a:spcAft>
                <a:buNone/>
              </a:pPr>
              <a:r>
                <a:rPr lang="en">
                  <a:solidFill>
                    <a:schemeClr val="dk2"/>
                  </a:solidFill>
                  <a:latin typeface="Oswald"/>
                  <a:ea typeface="Oswald"/>
                  <a:cs typeface="Oswald"/>
                  <a:sym typeface="Oswald"/>
                </a:rPr>
                <a:t>F = 28.46</a:t>
              </a:r>
              <a:endParaRPr>
                <a:solidFill>
                  <a:schemeClr val="dk2"/>
                </a:solidFill>
                <a:latin typeface="Oswald"/>
                <a:ea typeface="Oswald"/>
                <a:cs typeface="Oswald"/>
                <a:sym typeface="Oswald"/>
              </a:endParaRPr>
            </a:p>
            <a:p>
              <a:pPr indent="0" lvl="0" marL="457200" rtl="0" algn="l">
                <a:lnSpc>
                  <a:spcPct val="100000"/>
                </a:lnSpc>
                <a:spcBef>
                  <a:spcPts val="0"/>
                </a:spcBef>
                <a:spcAft>
                  <a:spcPts val="0"/>
                </a:spcAft>
                <a:buNone/>
              </a:pPr>
              <a:r>
                <a:rPr lang="en">
                  <a:solidFill>
                    <a:schemeClr val="dk2"/>
                  </a:solidFill>
                  <a:latin typeface="Oswald"/>
                  <a:ea typeface="Oswald"/>
                  <a:cs typeface="Oswald"/>
                  <a:sym typeface="Oswald"/>
                </a:rPr>
                <a:t>p = 0.001</a:t>
              </a:r>
              <a:endParaRPr>
                <a:solidFill>
                  <a:schemeClr val="dk2"/>
                </a:solidFill>
                <a:latin typeface="Oswald"/>
                <a:ea typeface="Oswald"/>
                <a:cs typeface="Oswald"/>
                <a:sym typeface="Oswald"/>
              </a:endParaRPr>
            </a:p>
            <a:p>
              <a:pPr indent="0" lvl="0" marL="0" rtl="0" algn="l">
                <a:lnSpc>
                  <a:spcPct val="100000"/>
                </a:lnSpc>
                <a:spcBef>
                  <a:spcPts val="0"/>
                </a:spcBef>
                <a:spcAft>
                  <a:spcPts val="0"/>
                </a:spcAft>
                <a:buNone/>
              </a:pPr>
              <a:r>
                <a:t/>
              </a:r>
              <a:endParaRPr>
                <a:solidFill>
                  <a:schemeClr val="dk2"/>
                </a:solidFill>
                <a:latin typeface="Oswald"/>
                <a:ea typeface="Oswald"/>
                <a:cs typeface="Oswald"/>
                <a:sym typeface="Oswald"/>
              </a:endParaRPr>
            </a:p>
          </p:txBody>
        </p:sp>
        <p:sp>
          <p:nvSpPr>
            <p:cNvPr id="165" name="Google Shape;165;p26"/>
            <p:cNvSpPr txBox="1"/>
            <p:nvPr/>
          </p:nvSpPr>
          <p:spPr>
            <a:xfrm>
              <a:off x="-1219616" y="4083179"/>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Oswald"/>
                  <a:ea typeface="Oswald"/>
                  <a:cs typeface="Oswald"/>
                  <a:sym typeface="Oswald"/>
                </a:rPr>
                <a:t>Bray-Curtis:</a:t>
              </a:r>
              <a:endParaRPr b="1">
                <a:solidFill>
                  <a:schemeClr val="dk2"/>
                </a:solidFill>
                <a:latin typeface="Oswald"/>
                <a:ea typeface="Oswald"/>
                <a:cs typeface="Oswald"/>
                <a:sym typeface="Oswald"/>
              </a:endParaRPr>
            </a:p>
            <a:p>
              <a:pPr indent="0" lvl="0" marL="457200" rtl="0" algn="l">
                <a:spcBef>
                  <a:spcPts val="0"/>
                </a:spcBef>
                <a:spcAft>
                  <a:spcPts val="0"/>
                </a:spcAft>
                <a:buNone/>
              </a:pPr>
              <a:r>
                <a:rPr lang="en">
                  <a:solidFill>
                    <a:schemeClr val="dk2"/>
                  </a:solidFill>
                  <a:latin typeface="Oswald"/>
                  <a:ea typeface="Oswald"/>
                  <a:cs typeface="Oswald"/>
                  <a:sym typeface="Oswald"/>
                </a:rPr>
                <a:t>R² = 0.155</a:t>
              </a:r>
              <a:endParaRPr>
                <a:solidFill>
                  <a:schemeClr val="dk2"/>
                </a:solidFill>
                <a:latin typeface="Oswald"/>
                <a:ea typeface="Oswald"/>
                <a:cs typeface="Oswald"/>
                <a:sym typeface="Oswald"/>
              </a:endParaRPr>
            </a:p>
            <a:p>
              <a:pPr indent="0" lvl="0" marL="457200" rtl="0" algn="l">
                <a:spcBef>
                  <a:spcPts val="0"/>
                </a:spcBef>
                <a:spcAft>
                  <a:spcPts val="0"/>
                </a:spcAft>
                <a:buNone/>
              </a:pPr>
              <a:r>
                <a:rPr lang="en">
                  <a:solidFill>
                    <a:schemeClr val="dk2"/>
                  </a:solidFill>
                  <a:latin typeface="Oswald"/>
                  <a:ea typeface="Oswald"/>
                  <a:cs typeface="Oswald"/>
                  <a:sym typeface="Oswald"/>
                </a:rPr>
                <a:t>F = 22.09</a:t>
              </a:r>
              <a:endParaRPr>
                <a:solidFill>
                  <a:schemeClr val="dk2"/>
                </a:solidFill>
                <a:latin typeface="Oswald"/>
                <a:ea typeface="Oswald"/>
                <a:cs typeface="Oswald"/>
                <a:sym typeface="Oswald"/>
              </a:endParaRPr>
            </a:p>
            <a:p>
              <a:pPr indent="0" lvl="0" marL="457200" rtl="0" algn="l">
                <a:spcBef>
                  <a:spcPts val="0"/>
                </a:spcBef>
                <a:spcAft>
                  <a:spcPts val="0"/>
                </a:spcAft>
                <a:buNone/>
              </a:pPr>
              <a:r>
                <a:rPr lang="en">
                  <a:solidFill>
                    <a:schemeClr val="dk2"/>
                  </a:solidFill>
                  <a:latin typeface="Oswald"/>
                  <a:ea typeface="Oswald"/>
                  <a:cs typeface="Oswald"/>
                  <a:sym typeface="Oswald"/>
                </a:rPr>
                <a:t>p = 0.001</a:t>
              </a:r>
              <a:endParaRPr>
                <a:solidFill>
                  <a:schemeClr val="dk2"/>
                </a:solidFill>
                <a:latin typeface="Oswald"/>
                <a:ea typeface="Oswald"/>
                <a:cs typeface="Oswald"/>
                <a:sym typeface="Oswald"/>
              </a:endParaRPr>
            </a:p>
          </p:txBody>
        </p:sp>
      </p:grpSp>
      <p:pic>
        <p:nvPicPr>
          <p:cNvPr id="166" name="Google Shape;166;p26" title="sore.png"/>
          <p:cNvPicPr preferRelativeResize="0"/>
          <p:nvPr/>
        </p:nvPicPr>
        <p:blipFill>
          <a:blip r:embed="rId3">
            <a:alphaModFix/>
          </a:blip>
          <a:stretch>
            <a:fillRect/>
          </a:stretch>
        </p:blipFill>
        <p:spPr>
          <a:xfrm>
            <a:off x="4011426" y="699063"/>
            <a:ext cx="5023924" cy="29207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2" name="Google Shape;172;p27"/>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3" name="Google Shape;173;p27" title="sore.png"/>
          <p:cNvPicPr preferRelativeResize="0"/>
          <p:nvPr/>
        </p:nvPicPr>
        <p:blipFill>
          <a:blip r:embed="rId3">
            <a:alphaModFix/>
          </a:blip>
          <a:stretch>
            <a:fillRect/>
          </a:stretch>
        </p:blipFill>
        <p:spPr>
          <a:xfrm>
            <a:off x="476738" y="190875"/>
            <a:ext cx="8190526" cy="47617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344250" y="1403850"/>
            <a:ext cx="8455500" cy="214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020"/>
              <a:t>Dominant taxa are relatively consistent across samples, while rarer taxa contribute more to differences in community composition</a:t>
            </a:r>
            <a:endParaRPr sz="302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9"/>
          <p:cNvPicPr preferRelativeResize="0"/>
          <p:nvPr/>
        </p:nvPicPr>
        <p:blipFill rotWithShape="1">
          <a:blip r:embed="rId3">
            <a:alphaModFix/>
          </a:blip>
          <a:srcRect b="5355" l="0" r="1235" t="10710"/>
          <a:stretch/>
        </p:blipFill>
        <p:spPr>
          <a:xfrm>
            <a:off x="-95050" y="-89650"/>
            <a:ext cx="9239050" cy="5423875"/>
          </a:xfrm>
          <a:prstGeom prst="rect">
            <a:avLst/>
          </a:prstGeom>
          <a:noFill/>
          <a:ln>
            <a:noFill/>
          </a:ln>
        </p:spPr>
      </p:pic>
      <p:sp>
        <p:nvSpPr>
          <p:cNvPr id="184" name="Google Shape;18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5" name="Google Shape;185;p29"/>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6" name="Google Shape;186;p29"/>
          <p:cNvPicPr preferRelativeResize="0"/>
          <p:nvPr/>
        </p:nvPicPr>
        <p:blipFill>
          <a:blip r:embed="rId4">
            <a:alphaModFix/>
          </a:blip>
          <a:stretch>
            <a:fillRect/>
          </a:stretch>
        </p:blipFill>
        <p:spPr>
          <a:xfrm>
            <a:off x="76200" y="209247"/>
            <a:ext cx="8991601" cy="472501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0"/>
          <p:cNvPicPr preferRelativeResize="0"/>
          <p:nvPr/>
        </p:nvPicPr>
        <p:blipFill>
          <a:blip r:embed="rId3">
            <a:alphaModFix/>
          </a:blip>
          <a:stretch>
            <a:fillRect/>
          </a:stretch>
        </p:blipFill>
        <p:spPr>
          <a:xfrm>
            <a:off x="3124200" y="333375"/>
            <a:ext cx="2895600" cy="4476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31"/>
          <p:cNvPicPr preferRelativeResize="0"/>
          <p:nvPr/>
        </p:nvPicPr>
        <p:blipFill rotWithShape="1">
          <a:blip r:embed="rId3">
            <a:alphaModFix/>
          </a:blip>
          <a:srcRect b="5355" l="0" r="1235" t="10710"/>
          <a:stretch/>
        </p:blipFill>
        <p:spPr>
          <a:xfrm>
            <a:off x="-95050" y="-89650"/>
            <a:ext cx="9239050" cy="5423875"/>
          </a:xfrm>
          <a:prstGeom prst="rect">
            <a:avLst/>
          </a:prstGeom>
          <a:noFill/>
          <a:ln>
            <a:noFill/>
          </a:ln>
        </p:spPr>
      </p:pic>
      <p:sp>
        <p:nvSpPr>
          <p:cNvPr id="197" name="Google Shape;197;p31"/>
          <p:cNvSpPr txBox="1"/>
          <p:nvPr>
            <p:ph type="title"/>
          </p:nvPr>
        </p:nvSpPr>
        <p:spPr>
          <a:xfrm>
            <a:off x="264175" y="44501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8" name="Google Shape;198;p31"/>
          <p:cNvSpPr txBox="1"/>
          <p:nvPr>
            <p:ph idx="1" type="body"/>
          </p:nvPr>
        </p:nvSpPr>
        <p:spPr>
          <a:xfrm>
            <a:off x="264175" y="1234063"/>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9" name="Google Shape;199;p31"/>
          <p:cNvPicPr preferRelativeResize="0"/>
          <p:nvPr/>
        </p:nvPicPr>
        <p:blipFill>
          <a:blip r:embed="rId4">
            <a:alphaModFix/>
          </a:blip>
          <a:stretch>
            <a:fillRect/>
          </a:stretch>
        </p:blipFill>
        <p:spPr>
          <a:xfrm>
            <a:off x="28675" y="209235"/>
            <a:ext cx="8991601" cy="4725016"/>
          </a:xfrm>
          <a:prstGeom prst="rect">
            <a:avLst/>
          </a:prstGeom>
          <a:noFill/>
          <a:ln>
            <a:noFill/>
          </a:ln>
        </p:spPr>
      </p:pic>
      <p:sp>
        <p:nvSpPr>
          <p:cNvPr id="200" name="Google Shape;200;p31"/>
          <p:cNvSpPr/>
          <p:nvPr/>
        </p:nvSpPr>
        <p:spPr>
          <a:xfrm>
            <a:off x="561450" y="627425"/>
            <a:ext cx="1277100" cy="3989700"/>
          </a:xfrm>
          <a:prstGeom prst="rect">
            <a:avLst/>
          </a:prstGeom>
          <a:solidFill>
            <a:srgbClr val="D19EB5">
              <a:alpha val="34180"/>
            </a:srgbClr>
          </a:solidFill>
          <a:ln cap="flat" cmpd="sng" w="10700">
            <a:solidFill>
              <a:srgbClr val="F6D7B8"/>
            </a:solidFill>
            <a:prstDash val="solid"/>
            <a:round/>
            <a:headEnd len="sm" w="sm" type="none"/>
            <a:tailEnd len="sm" w="sm" type="none"/>
          </a:ln>
        </p:spPr>
        <p:txBody>
          <a:bodyPr anchorCtr="0" anchor="ctr" bIns="102800" lIns="102800" spcFirstLastPara="1" rIns="102800" wrap="square" tIns="102800">
            <a:noAutofit/>
          </a:bodyPr>
          <a:lstStyle/>
          <a:p>
            <a:pPr indent="0" lvl="0" marL="0" rtl="0" algn="ctr">
              <a:spcBef>
                <a:spcPts val="0"/>
              </a:spcBef>
              <a:spcAft>
                <a:spcPts val="0"/>
              </a:spcAft>
              <a:buNone/>
            </a:pPr>
            <a:r>
              <a:rPr lang="en" sz="1574">
                <a:latin typeface="Playfair Display"/>
                <a:ea typeface="Playfair Display"/>
                <a:cs typeface="Playfair Display"/>
                <a:sym typeface="Playfair Display"/>
              </a:rPr>
              <a:t>Leafing</a:t>
            </a:r>
            <a:endParaRPr sz="1574">
              <a:latin typeface="Playfair Display"/>
              <a:ea typeface="Playfair Display"/>
              <a:cs typeface="Playfair Display"/>
              <a:sym typeface="Playfair Display"/>
            </a:endParaRPr>
          </a:p>
        </p:txBody>
      </p:sp>
      <p:sp>
        <p:nvSpPr>
          <p:cNvPr id="201" name="Google Shape;201;p31"/>
          <p:cNvSpPr/>
          <p:nvPr/>
        </p:nvSpPr>
        <p:spPr>
          <a:xfrm>
            <a:off x="1747175" y="627425"/>
            <a:ext cx="860700" cy="3989700"/>
          </a:xfrm>
          <a:prstGeom prst="rect">
            <a:avLst/>
          </a:prstGeom>
          <a:solidFill>
            <a:srgbClr val="A3F4CD">
              <a:alpha val="27219"/>
            </a:srgbClr>
          </a:solidFill>
          <a:ln cap="flat" cmpd="sng" w="10700">
            <a:solidFill>
              <a:schemeClr val="accent6"/>
            </a:solidFill>
            <a:prstDash val="solid"/>
            <a:round/>
            <a:headEnd len="sm" w="sm" type="none"/>
            <a:tailEnd len="sm" w="sm" type="none"/>
          </a:ln>
        </p:spPr>
        <p:txBody>
          <a:bodyPr anchorCtr="0" anchor="ctr" bIns="102800" lIns="102800" spcFirstLastPara="1" rIns="102800" wrap="square" tIns="102800">
            <a:noAutofit/>
          </a:bodyPr>
          <a:lstStyle/>
          <a:p>
            <a:pPr indent="0" lvl="0" marL="0" rtl="0" algn="ctr">
              <a:spcBef>
                <a:spcPts val="0"/>
              </a:spcBef>
              <a:spcAft>
                <a:spcPts val="0"/>
              </a:spcAft>
              <a:buNone/>
            </a:pPr>
            <a:r>
              <a:rPr lang="en" sz="1574">
                <a:latin typeface="Playfair Display"/>
                <a:ea typeface="Playfair Display"/>
                <a:cs typeface="Playfair Display"/>
                <a:sym typeface="Playfair Display"/>
              </a:rPr>
              <a:t>Bolting</a:t>
            </a:r>
            <a:endParaRPr sz="1574">
              <a:latin typeface="Playfair Display"/>
              <a:ea typeface="Playfair Display"/>
              <a:cs typeface="Playfair Display"/>
              <a:sym typeface="Playfair Display"/>
            </a:endParaRPr>
          </a:p>
        </p:txBody>
      </p:sp>
      <p:sp>
        <p:nvSpPr>
          <p:cNvPr id="202" name="Google Shape;202;p31"/>
          <p:cNvSpPr/>
          <p:nvPr/>
        </p:nvSpPr>
        <p:spPr>
          <a:xfrm>
            <a:off x="2548782" y="627425"/>
            <a:ext cx="710100" cy="3989700"/>
          </a:xfrm>
          <a:prstGeom prst="rect">
            <a:avLst/>
          </a:prstGeom>
          <a:solidFill>
            <a:srgbClr val="837FBB">
              <a:alpha val="34180"/>
            </a:srgbClr>
          </a:solidFill>
          <a:ln cap="flat" cmpd="sng" w="10700">
            <a:solidFill>
              <a:srgbClr val="837FBB"/>
            </a:solidFill>
            <a:prstDash val="solid"/>
            <a:round/>
            <a:headEnd len="sm" w="sm" type="none"/>
            <a:tailEnd len="sm" w="sm" type="none"/>
          </a:ln>
        </p:spPr>
        <p:txBody>
          <a:bodyPr anchorCtr="0" anchor="ctr" bIns="102800" lIns="102800" spcFirstLastPara="1" rIns="102800" wrap="square" tIns="102800">
            <a:noAutofit/>
          </a:bodyPr>
          <a:lstStyle/>
          <a:p>
            <a:pPr indent="0" lvl="0" marL="0" rtl="0" algn="ctr">
              <a:spcBef>
                <a:spcPts val="0"/>
              </a:spcBef>
              <a:spcAft>
                <a:spcPts val="0"/>
              </a:spcAft>
              <a:buNone/>
            </a:pPr>
            <a:r>
              <a:rPr lang="en" sz="1574">
                <a:latin typeface="Playfair Display"/>
                <a:ea typeface="Playfair Display"/>
                <a:cs typeface="Playfair Display"/>
                <a:sym typeface="Playfair Display"/>
              </a:rPr>
              <a:t>Flowering</a:t>
            </a:r>
            <a:endParaRPr sz="1574">
              <a:latin typeface="Playfair Display"/>
              <a:ea typeface="Playfair Display"/>
              <a:cs typeface="Playfair Display"/>
              <a:sym typeface="Playfair Display"/>
            </a:endParaRPr>
          </a:p>
          <a:p>
            <a:pPr indent="0" lvl="0" marL="0" rtl="0" algn="ctr">
              <a:spcBef>
                <a:spcPts val="0"/>
              </a:spcBef>
              <a:spcAft>
                <a:spcPts val="0"/>
              </a:spcAft>
              <a:buNone/>
            </a:pPr>
            <a:r>
              <a:t/>
            </a:r>
            <a:endParaRPr sz="1574">
              <a:latin typeface="Playfair Display"/>
              <a:ea typeface="Playfair Display"/>
              <a:cs typeface="Playfair Display"/>
              <a:sym typeface="Playfair Display"/>
            </a:endParaRPr>
          </a:p>
          <a:p>
            <a:pPr indent="0" lvl="0" marL="0" rtl="0" algn="ctr">
              <a:spcBef>
                <a:spcPts val="0"/>
              </a:spcBef>
              <a:spcAft>
                <a:spcPts val="0"/>
              </a:spcAft>
              <a:buNone/>
            </a:pPr>
            <a:r>
              <a:t/>
            </a:r>
            <a:endParaRPr sz="1574">
              <a:latin typeface="Playfair Display"/>
              <a:ea typeface="Playfair Display"/>
              <a:cs typeface="Playfair Display"/>
              <a:sym typeface="Playfair Display"/>
            </a:endParaRPr>
          </a:p>
        </p:txBody>
      </p:sp>
      <p:sp>
        <p:nvSpPr>
          <p:cNvPr id="203" name="Google Shape;203;p31"/>
          <p:cNvSpPr/>
          <p:nvPr/>
        </p:nvSpPr>
        <p:spPr>
          <a:xfrm>
            <a:off x="3258913" y="627425"/>
            <a:ext cx="1277100" cy="3989700"/>
          </a:xfrm>
          <a:prstGeom prst="rect">
            <a:avLst/>
          </a:prstGeom>
          <a:solidFill>
            <a:srgbClr val="A8C5CE">
              <a:alpha val="34180"/>
            </a:srgbClr>
          </a:solidFill>
          <a:ln cap="flat" cmpd="sng" w="10700">
            <a:solidFill>
              <a:srgbClr val="A8C5CE"/>
            </a:solidFill>
            <a:prstDash val="solid"/>
            <a:round/>
            <a:headEnd len="sm" w="sm" type="none"/>
            <a:tailEnd len="sm" w="sm" type="none"/>
          </a:ln>
        </p:spPr>
        <p:txBody>
          <a:bodyPr anchorCtr="0" anchor="ctr" bIns="102800" lIns="102800" spcFirstLastPara="1" rIns="102800" wrap="square" tIns="102800">
            <a:noAutofit/>
          </a:bodyPr>
          <a:lstStyle/>
          <a:p>
            <a:pPr indent="0" lvl="0" marL="0" rtl="0" algn="ctr">
              <a:spcBef>
                <a:spcPts val="0"/>
              </a:spcBef>
              <a:spcAft>
                <a:spcPts val="0"/>
              </a:spcAft>
              <a:buNone/>
            </a:pPr>
            <a:r>
              <a:rPr lang="en" sz="1574">
                <a:latin typeface="Playfair Display"/>
                <a:ea typeface="Playfair Display"/>
                <a:cs typeface="Playfair Display"/>
                <a:sym typeface="Playfair Display"/>
              </a:rPr>
              <a:t>Seed developing</a:t>
            </a:r>
            <a:endParaRPr sz="1574">
              <a:latin typeface="Playfair Display"/>
              <a:ea typeface="Playfair Display"/>
              <a:cs typeface="Playfair Display"/>
              <a:sym typeface="Playfair Display"/>
            </a:endParaRPr>
          </a:p>
        </p:txBody>
      </p:sp>
      <p:sp>
        <p:nvSpPr>
          <p:cNvPr id="204" name="Google Shape;204;p31"/>
          <p:cNvSpPr/>
          <p:nvPr/>
        </p:nvSpPr>
        <p:spPr>
          <a:xfrm>
            <a:off x="4536100" y="627425"/>
            <a:ext cx="2657400" cy="3989700"/>
          </a:xfrm>
          <a:prstGeom prst="rect">
            <a:avLst/>
          </a:prstGeom>
          <a:solidFill>
            <a:srgbClr val="42E998">
              <a:alpha val="19620"/>
            </a:srgbClr>
          </a:solidFill>
          <a:ln cap="flat" cmpd="sng" w="10700">
            <a:solidFill>
              <a:srgbClr val="42E998"/>
            </a:solidFill>
            <a:prstDash val="solid"/>
            <a:round/>
            <a:headEnd len="sm" w="sm" type="none"/>
            <a:tailEnd len="sm" w="sm" type="none"/>
          </a:ln>
        </p:spPr>
        <p:txBody>
          <a:bodyPr anchorCtr="0" anchor="ctr" bIns="102800" lIns="102800" spcFirstLastPara="1" rIns="102800" wrap="square" tIns="102800">
            <a:noAutofit/>
          </a:bodyPr>
          <a:lstStyle/>
          <a:p>
            <a:pPr indent="0" lvl="0" marL="0" rtl="0" algn="ctr">
              <a:spcBef>
                <a:spcPts val="0"/>
              </a:spcBef>
              <a:spcAft>
                <a:spcPts val="0"/>
              </a:spcAft>
              <a:buNone/>
            </a:pPr>
            <a:r>
              <a:rPr lang="en" sz="1574">
                <a:latin typeface="Playfair Display"/>
                <a:ea typeface="Playfair Display"/>
                <a:cs typeface="Playfair Display"/>
                <a:sym typeface="Playfair Display"/>
              </a:rPr>
              <a:t>Ripening</a:t>
            </a:r>
            <a:endParaRPr sz="1574">
              <a:latin typeface="Playfair Display"/>
              <a:ea typeface="Playfair Display"/>
              <a:cs typeface="Playfair Display"/>
              <a:sym typeface="Playfair Displ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8" name="Shape 208"/>
        <p:cNvGrpSpPr/>
        <p:nvPr/>
      </p:nvGrpSpPr>
      <p:grpSpPr>
        <a:xfrm>
          <a:off x="0" y="0"/>
          <a:ext cx="0" cy="0"/>
          <a:chOff x="0" y="0"/>
          <a:chExt cx="0" cy="0"/>
        </a:xfrm>
      </p:grpSpPr>
      <p:pic>
        <p:nvPicPr>
          <p:cNvPr id="209" name="Google Shape;209;p32"/>
          <p:cNvPicPr preferRelativeResize="0"/>
          <p:nvPr/>
        </p:nvPicPr>
        <p:blipFill rotWithShape="1">
          <a:blip r:embed="rId4">
            <a:alphaModFix/>
          </a:blip>
          <a:srcRect b="5355" l="0" r="1235" t="10710"/>
          <a:stretch/>
        </p:blipFill>
        <p:spPr>
          <a:xfrm>
            <a:off x="-95050" y="-89650"/>
            <a:ext cx="9239050" cy="5423875"/>
          </a:xfrm>
          <a:prstGeom prst="rect">
            <a:avLst/>
          </a:prstGeom>
          <a:noFill/>
          <a:ln>
            <a:noFill/>
          </a:ln>
        </p:spPr>
      </p:pic>
      <p:pic>
        <p:nvPicPr>
          <p:cNvPr id="210" name="Google Shape;210;p32"/>
          <p:cNvPicPr preferRelativeResize="0"/>
          <p:nvPr/>
        </p:nvPicPr>
        <p:blipFill>
          <a:blip r:embed="rId5">
            <a:alphaModFix/>
          </a:blip>
          <a:stretch>
            <a:fillRect/>
          </a:stretch>
        </p:blipFill>
        <p:spPr>
          <a:xfrm>
            <a:off x="673676" y="0"/>
            <a:ext cx="7796649" cy="5143501"/>
          </a:xfrm>
          <a:prstGeom prst="rect">
            <a:avLst/>
          </a:prstGeom>
          <a:noFill/>
          <a:ln>
            <a:noFill/>
          </a:ln>
        </p:spPr>
      </p:pic>
      <p:sp>
        <p:nvSpPr>
          <p:cNvPr id="211" name="Google Shape;211;p32"/>
          <p:cNvSpPr txBox="1"/>
          <p:nvPr/>
        </p:nvSpPr>
        <p:spPr>
          <a:xfrm>
            <a:off x="-95050" y="-89650"/>
            <a:ext cx="7395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50">
                <a:solidFill>
                  <a:srgbClr val="222222"/>
                </a:solidFill>
                <a:highlight>
                  <a:srgbClr val="FFFFFF"/>
                </a:highlight>
                <a:latin typeface="Merriweather"/>
                <a:ea typeface="Merriweather"/>
                <a:cs typeface="Merriweather"/>
                <a:sym typeface="Merriweather"/>
              </a:rPr>
              <a:t>Relative abundance of genera that composed the Core as well as the communities present during the Flowering and Pod stages (Expanded Core).</a:t>
            </a:r>
            <a:r>
              <a:rPr lang="en" sz="900">
                <a:solidFill>
                  <a:schemeClr val="dk2"/>
                </a:solidFill>
              </a:rPr>
              <a:t> </a:t>
            </a:r>
            <a:endParaRPr sz="1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5" name="Shape 215"/>
        <p:cNvGrpSpPr/>
        <p:nvPr/>
      </p:nvGrpSpPr>
      <p:grpSpPr>
        <a:xfrm>
          <a:off x="0" y="0"/>
          <a:ext cx="0" cy="0"/>
          <a:chOff x="0" y="0"/>
          <a:chExt cx="0" cy="0"/>
        </a:xfrm>
      </p:grpSpPr>
      <p:pic>
        <p:nvPicPr>
          <p:cNvPr id="216" name="Google Shape;216;p33"/>
          <p:cNvPicPr preferRelativeResize="0"/>
          <p:nvPr/>
        </p:nvPicPr>
        <p:blipFill rotWithShape="1">
          <a:blip r:embed="rId4">
            <a:alphaModFix/>
          </a:blip>
          <a:srcRect b="5355" l="0" r="1235" t="10710"/>
          <a:stretch/>
        </p:blipFill>
        <p:spPr>
          <a:xfrm>
            <a:off x="-95050" y="-89650"/>
            <a:ext cx="9239050" cy="5423875"/>
          </a:xfrm>
          <a:prstGeom prst="rect">
            <a:avLst/>
          </a:prstGeom>
          <a:noFill/>
          <a:ln>
            <a:noFill/>
          </a:ln>
        </p:spPr>
      </p:pic>
      <p:pic>
        <p:nvPicPr>
          <p:cNvPr id="217" name="Google Shape;217;p33"/>
          <p:cNvPicPr preferRelativeResize="0"/>
          <p:nvPr/>
        </p:nvPicPr>
        <p:blipFill>
          <a:blip r:embed="rId5">
            <a:alphaModFix/>
          </a:blip>
          <a:stretch>
            <a:fillRect/>
          </a:stretch>
        </p:blipFill>
        <p:spPr>
          <a:xfrm>
            <a:off x="673676" y="0"/>
            <a:ext cx="7796649" cy="5143501"/>
          </a:xfrm>
          <a:prstGeom prst="rect">
            <a:avLst/>
          </a:prstGeom>
          <a:noFill/>
          <a:ln>
            <a:noFill/>
          </a:ln>
        </p:spPr>
      </p:pic>
      <p:sp>
        <p:nvSpPr>
          <p:cNvPr id="218" name="Google Shape;218;p33"/>
          <p:cNvSpPr/>
          <p:nvPr/>
        </p:nvSpPr>
        <p:spPr>
          <a:xfrm>
            <a:off x="7402000" y="259275"/>
            <a:ext cx="860700" cy="148500"/>
          </a:xfrm>
          <a:prstGeom prst="rect">
            <a:avLst/>
          </a:prstGeom>
          <a:solidFill>
            <a:srgbClr val="FFFF00">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19" name="Google Shape;219;p33"/>
          <p:cNvSpPr/>
          <p:nvPr/>
        </p:nvSpPr>
        <p:spPr>
          <a:xfrm>
            <a:off x="7379125" y="643238"/>
            <a:ext cx="860700" cy="148500"/>
          </a:xfrm>
          <a:prstGeom prst="rect">
            <a:avLst/>
          </a:prstGeom>
          <a:solidFill>
            <a:srgbClr val="FF00FF">
              <a:alpha val="379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20" name="Google Shape;220;p33"/>
          <p:cNvSpPr/>
          <p:nvPr/>
        </p:nvSpPr>
        <p:spPr>
          <a:xfrm>
            <a:off x="7402000" y="75256"/>
            <a:ext cx="860700" cy="148500"/>
          </a:xfrm>
          <a:prstGeom prst="rect">
            <a:avLst/>
          </a:prstGeom>
          <a:solidFill>
            <a:srgbClr val="FFFF00">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21" name="Google Shape;221;p33"/>
          <p:cNvSpPr/>
          <p:nvPr/>
        </p:nvSpPr>
        <p:spPr>
          <a:xfrm>
            <a:off x="7402000" y="457288"/>
            <a:ext cx="860700" cy="148500"/>
          </a:xfrm>
          <a:prstGeom prst="rect">
            <a:avLst/>
          </a:prstGeom>
          <a:solidFill>
            <a:srgbClr val="00FFFF">
              <a:alpha val="3100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22" name="Google Shape;222;p33"/>
          <p:cNvSpPr/>
          <p:nvPr/>
        </p:nvSpPr>
        <p:spPr>
          <a:xfrm>
            <a:off x="7402000" y="829206"/>
            <a:ext cx="860700" cy="148500"/>
          </a:xfrm>
          <a:prstGeom prst="rect">
            <a:avLst/>
          </a:prstGeom>
          <a:solidFill>
            <a:srgbClr val="FFFF00">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23" name="Google Shape;223;p33"/>
          <p:cNvSpPr/>
          <p:nvPr/>
        </p:nvSpPr>
        <p:spPr>
          <a:xfrm>
            <a:off x="7402000" y="1015138"/>
            <a:ext cx="860700" cy="148500"/>
          </a:xfrm>
          <a:prstGeom prst="rect">
            <a:avLst/>
          </a:prstGeom>
          <a:solidFill>
            <a:srgbClr val="FF00FF">
              <a:alpha val="379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24" name="Google Shape;224;p33"/>
          <p:cNvSpPr/>
          <p:nvPr/>
        </p:nvSpPr>
        <p:spPr>
          <a:xfrm>
            <a:off x="7402000" y="1368550"/>
            <a:ext cx="860700" cy="148500"/>
          </a:xfrm>
          <a:prstGeom prst="rect">
            <a:avLst/>
          </a:prstGeom>
          <a:solidFill>
            <a:srgbClr val="FFFF00">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25" name="Google Shape;225;p33"/>
          <p:cNvSpPr/>
          <p:nvPr/>
        </p:nvSpPr>
        <p:spPr>
          <a:xfrm>
            <a:off x="7402000" y="1589050"/>
            <a:ext cx="860700" cy="148500"/>
          </a:xfrm>
          <a:prstGeom prst="rect">
            <a:avLst/>
          </a:prstGeom>
          <a:solidFill>
            <a:srgbClr val="FFFF00">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26" name="Google Shape;226;p33"/>
          <p:cNvSpPr/>
          <p:nvPr/>
        </p:nvSpPr>
        <p:spPr>
          <a:xfrm>
            <a:off x="7402000" y="1931150"/>
            <a:ext cx="860700" cy="148500"/>
          </a:xfrm>
          <a:prstGeom prst="rect">
            <a:avLst/>
          </a:prstGeom>
          <a:solidFill>
            <a:srgbClr val="FFFF00">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27" name="Google Shape;227;p33"/>
          <p:cNvSpPr/>
          <p:nvPr/>
        </p:nvSpPr>
        <p:spPr>
          <a:xfrm>
            <a:off x="7402000" y="2138025"/>
            <a:ext cx="860700" cy="148500"/>
          </a:xfrm>
          <a:prstGeom prst="rect">
            <a:avLst/>
          </a:prstGeom>
          <a:solidFill>
            <a:srgbClr val="00FFFF">
              <a:alpha val="3100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28" name="Google Shape;228;p33"/>
          <p:cNvSpPr/>
          <p:nvPr/>
        </p:nvSpPr>
        <p:spPr>
          <a:xfrm>
            <a:off x="7402000" y="2529500"/>
            <a:ext cx="860700" cy="148500"/>
          </a:xfrm>
          <a:prstGeom prst="rect">
            <a:avLst/>
          </a:prstGeom>
          <a:solidFill>
            <a:srgbClr val="FFFF00">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29" name="Google Shape;229;p33"/>
          <p:cNvSpPr/>
          <p:nvPr/>
        </p:nvSpPr>
        <p:spPr>
          <a:xfrm>
            <a:off x="7402000" y="2912100"/>
            <a:ext cx="1040400" cy="128100"/>
          </a:xfrm>
          <a:prstGeom prst="rect">
            <a:avLst/>
          </a:prstGeom>
          <a:solidFill>
            <a:srgbClr val="FFFF00">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30" name="Google Shape;230;p33"/>
          <p:cNvSpPr/>
          <p:nvPr/>
        </p:nvSpPr>
        <p:spPr>
          <a:xfrm>
            <a:off x="7402000" y="3102850"/>
            <a:ext cx="860700" cy="148500"/>
          </a:xfrm>
          <a:prstGeom prst="rect">
            <a:avLst/>
          </a:prstGeom>
          <a:solidFill>
            <a:srgbClr val="FFFF00">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31" name="Google Shape;231;p33"/>
          <p:cNvSpPr/>
          <p:nvPr/>
        </p:nvSpPr>
        <p:spPr>
          <a:xfrm>
            <a:off x="7402000" y="3274288"/>
            <a:ext cx="860700" cy="148500"/>
          </a:xfrm>
          <a:prstGeom prst="rect">
            <a:avLst/>
          </a:prstGeom>
          <a:solidFill>
            <a:srgbClr val="FF00FF">
              <a:alpha val="379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32" name="Google Shape;232;p33"/>
          <p:cNvSpPr/>
          <p:nvPr/>
        </p:nvSpPr>
        <p:spPr>
          <a:xfrm>
            <a:off x="7402000" y="3445750"/>
            <a:ext cx="860700" cy="148500"/>
          </a:xfrm>
          <a:prstGeom prst="rect">
            <a:avLst/>
          </a:prstGeom>
          <a:solidFill>
            <a:srgbClr val="FFFF00">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33" name="Google Shape;233;p33"/>
          <p:cNvSpPr/>
          <p:nvPr/>
        </p:nvSpPr>
        <p:spPr>
          <a:xfrm>
            <a:off x="7402000" y="3656900"/>
            <a:ext cx="860700" cy="148500"/>
          </a:xfrm>
          <a:prstGeom prst="rect">
            <a:avLst/>
          </a:prstGeom>
          <a:solidFill>
            <a:srgbClr val="FFFF00">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34" name="Google Shape;234;p33"/>
          <p:cNvSpPr/>
          <p:nvPr/>
        </p:nvSpPr>
        <p:spPr>
          <a:xfrm>
            <a:off x="7402000" y="3837388"/>
            <a:ext cx="860700" cy="148500"/>
          </a:xfrm>
          <a:prstGeom prst="rect">
            <a:avLst/>
          </a:prstGeom>
          <a:solidFill>
            <a:srgbClr val="FF00FF">
              <a:alpha val="379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35" name="Google Shape;235;p33"/>
          <p:cNvSpPr/>
          <p:nvPr/>
        </p:nvSpPr>
        <p:spPr>
          <a:xfrm>
            <a:off x="7402000" y="4039488"/>
            <a:ext cx="860700" cy="148500"/>
          </a:xfrm>
          <a:prstGeom prst="rect">
            <a:avLst/>
          </a:prstGeom>
          <a:solidFill>
            <a:srgbClr val="FF00FF">
              <a:alpha val="379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36" name="Google Shape;236;p33"/>
          <p:cNvSpPr/>
          <p:nvPr/>
        </p:nvSpPr>
        <p:spPr>
          <a:xfrm>
            <a:off x="7402000" y="4229038"/>
            <a:ext cx="860700" cy="148500"/>
          </a:xfrm>
          <a:prstGeom prst="rect">
            <a:avLst/>
          </a:prstGeom>
          <a:solidFill>
            <a:srgbClr val="FF00FF">
              <a:alpha val="379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37" name="Google Shape;237;p33"/>
          <p:cNvSpPr/>
          <p:nvPr/>
        </p:nvSpPr>
        <p:spPr>
          <a:xfrm>
            <a:off x="7402000" y="4418588"/>
            <a:ext cx="860700" cy="148500"/>
          </a:xfrm>
          <a:prstGeom prst="rect">
            <a:avLst/>
          </a:prstGeom>
          <a:solidFill>
            <a:srgbClr val="FF00FF">
              <a:alpha val="379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38" name="Google Shape;238;p33"/>
          <p:cNvSpPr/>
          <p:nvPr/>
        </p:nvSpPr>
        <p:spPr>
          <a:xfrm>
            <a:off x="7402000" y="4608150"/>
            <a:ext cx="860700" cy="148500"/>
          </a:xfrm>
          <a:prstGeom prst="rect">
            <a:avLst/>
          </a:prstGeom>
          <a:solidFill>
            <a:srgbClr val="FFFF00">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39" name="Google Shape;239;p33"/>
          <p:cNvSpPr/>
          <p:nvPr/>
        </p:nvSpPr>
        <p:spPr>
          <a:xfrm>
            <a:off x="4219675" y="714375"/>
            <a:ext cx="3080389" cy="2388478"/>
          </a:xfrm>
          <a:custGeom>
            <a:rect b="b" l="l" r="r" t="t"/>
            <a:pathLst>
              <a:path extrusionOk="0" h="95149" w="120634">
                <a:moveTo>
                  <a:pt x="120635" y="0"/>
                </a:moveTo>
                <a:cubicBezTo>
                  <a:pt x="101937" y="1970"/>
                  <a:pt x="82310" y="9442"/>
                  <a:pt x="69015" y="22737"/>
                </a:cubicBezTo>
                <a:cubicBezTo>
                  <a:pt x="56263" y="35489"/>
                  <a:pt x="44977" y="50050"/>
                  <a:pt x="30301" y="60530"/>
                </a:cubicBezTo>
                <a:cubicBezTo>
                  <a:pt x="27398" y="62603"/>
                  <a:pt x="26395" y="66686"/>
                  <a:pt x="23541" y="68826"/>
                </a:cubicBezTo>
                <a:cubicBezTo>
                  <a:pt x="19076" y="72174"/>
                  <a:pt x="14519" y="75670"/>
                  <a:pt x="11251" y="80194"/>
                </a:cubicBezTo>
                <a:cubicBezTo>
                  <a:pt x="9020" y="83283"/>
                  <a:pt x="6196" y="86004"/>
                  <a:pt x="4491" y="89412"/>
                </a:cubicBezTo>
                <a:cubicBezTo>
                  <a:pt x="3728" y="90937"/>
                  <a:pt x="3431" y="93714"/>
                  <a:pt x="1726" y="93714"/>
                </a:cubicBezTo>
                <a:cubicBezTo>
                  <a:pt x="781" y="93714"/>
                  <a:pt x="2007" y="91246"/>
                  <a:pt x="1111" y="90948"/>
                </a:cubicBezTo>
                <a:cubicBezTo>
                  <a:pt x="-156" y="90526"/>
                  <a:pt x="-391" y="94346"/>
                  <a:pt x="804" y="94943"/>
                </a:cubicBezTo>
                <a:cubicBezTo>
                  <a:pt x="2080" y="95581"/>
                  <a:pt x="3790" y="94416"/>
                  <a:pt x="4798" y="93406"/>
                </a:cubicBezTo>
              </a:path>
            </a:pathLst>
          </a:custGeom>
          <a:noFill/>
          <a:ln cap="flat" cmpd="sng" w="19050">
            <a:solidFill>
              <a:srgbClr val="FF00FF"/>
            </a:solidFill>
            <a:prstDash val="solid"/>
            <a:round/>
            <a:headEnd len="med" w="med" type="none"/>
            <a:tailEnd len="med" w="med" type="none"/>
          </a:ln>
        </p:spPr>
      </p:sp>
      <p:sp>
        <p:nvSpPr>
          <p:cNvPr id="240" name="Google Shape;240;p33"/>
          <p:cNvSpPr/>
          <p:nvPr/>
        </p:nvSpPr>
        <p:spPr>
          <a:xfrm>
            <a:off x="6501311" y="1480975"/>
            <a:ext cx="785850" cy="2417650"/>
          </a:xfrm>
          <a:custGeom>
            <a:rect b="b" l="l" r="r" t="t"/>
            <a:pathLst>
              <a:path extrusionOk="0" h="96706" w="31434">
                <a:moveTo>
                  <a:pt x="31435" y="0"/>
                </a:moveTo>
                <a:cubicBezTo>
                  <a:pt x="16723" y="19278"/>
                  <a:pt x="6531" y="43297"/>
                  <a:pt x="4114" y="67427"/>
                </a:cubicBezTo>
                <a:cubicBezTo>
                  <a:pt x="3406" y="74496"/>
                  <a:pt x="3612" y="81629"/>
                  <a:pt x="3612" y="88733"/>
                </a:cubicBezTo>
                <a:cubicBezTo>
                  <a:pt x="3612" y="90490"/>
                  <a:pt x="5095" y="93709"/>
                  <a:pt x="3362" y="93997"/>
                </a:cubicBezTo>
                <a:cubicBezTo>
                  <a:pt x="2145" y="94199"/>
                  <a:pt x="442" y="91056"/>
                  <a:pt x="103" y="92242"/>
                </a:cubicBezTo>
                <a:cubicBezTo>
                  <a:pt x="-307" y="93679"/>
                  <a:pt x="1175" y="95084"/>
                  <a:pt x="2108" y="96252"/>
                </a:cubicBezTo>
                <a:cubicBezTo>
                  <a:pt x="3569" y="98081"/>
                  <a:pt x="5925" y="93540"/>
                  <a:pt x="7873" y="92242"/>
                </a:cubicBezTo>
              </a:path>
            </a:pathLst>
          </a:custGeom>
          <a:noFill/>
          <a:ln cap="flat" cmpd="sng" w="19050">
            <a:solidFill>
              <a:srgbClr val="FFFF00"/>
            </a:solidFill>
            <a:prstDash val="solid"/>
            <a:round/>
            <a:headEnd len="med" w="med" type="none"/>
            <a:tailEnd len="med" w="med" type="none"/>
          </a:ln>
        </p:spPr>
      </p:sp>
      <p:sp>
        <p:nvSpPr>
          <p:cNvPr id="241" name="Google Shape;241;p33"/>
          <p:cNvSpPr/>
          <p:nvPr/>
        </p:nvSpPr>
        <p:spPr>
          <a:xfrm>
            <a:off x="3097500" y="501375"/>
            <a:ext cx="4202578" cy="2538832"/>
          </a:xfrm>
          <a:custGeom>
            <a:rect b="b" l="l" r="r" t="t"/>
            <a:pathLst>
              <a:path extrusionOk="0" h="96865" w="161250">
                <a:moveTo>
                  <a:pt x="161251" y="0"/>
                </a:moveTo>
                <a:cubicBezTo>
                  <a:pt x="154544" y="0"/>
                  <a:pt x="148110" y="2695"/>
                  <a:pt x="141533" y="4010"/>
                </a:cubicBezTo>
                <a:cubicBezTo>
                  <a:pt x="104066" y="11499"/>
                  <a:pt x="66063" y="30805"/>
                  <a:pt x="41604" y="60158"/>
                </a:cubicBezTo>
                <a:cubicBezTo>
                  <a:pt x="34734" y="68403"/>
                  <a:pt x="25129" y="73959"/>
                  <a:pt x="17541" y="81547"/>
                </a:cubicBezTo>
                <a:cubicBezTo>
                  <a:pt x="13360" y="85728"/>
                  <a:pt x="8687" y="89398"/>
                  <a:pt x="4506" y="93579"/>
                </a:cubicBezTo>
                <a:cubicBezTo>
                  <a:pt x="3558" y="94527"/>
                  <a:pt x="2698" y="96851"/>
                  <a:pt x="1498" y="96252"/>
                </a:cubicBezTo>
                <a:cubicBezTo>
                  <a:pt x="-222" y="95393"/>
                  <a:pt x="1855" y="89210"/>
                  <a:pt x="496" y="90571"/>
                </a:cubicBezTo>
                <a:cubicBezTo>
                  <a:pt x="-1993" y="93064"/>
                  <a:pt x="5844" y="97703"/>
                  <a:pt x="9185" y="96586"/>
                </a:cubicBezTo>
              </a:path>
            </a:pathLst>
          </a:custGeom>
          <a:noFill/>
          <a:ln cap="flat" cmpd="sng" w="19050">
            <a:solidFill>
              <a:srgbClr val="00FFFF"/>
            </a:solidFill>
            <a:prstDash val="solid"/>
            <a:round/>
            <a:headEnd len="med" w="med" type="none"/>
            <a:tailEnd len="med" w="med" type="none"/>
          </a:ln>
        </p:spPr>
      </p:sp>
      <p:sp>
        <p:nvSpPr>
          <p:cNvPr id="242" name="Google Shape;242;p33"/>
          <p:cNvSpPr txBox="1"/>
          <p:nvPr/>
        </p:nvSpPr>
        <p:spPr>
          <a:xfrm>
            <a:off x="-95050" y="-89650"/>
            <a:ext cx="7395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50">
                <a:solidFill>
                  <a:srgbClr val="222222"/>
                </a:solidFill>
                <a:highlight>
                  <a:srgbClr val="FFFFFF"/>
                </a:highlight>
                <a:latin typeface="Merriweather"/>
                <a:ea typeface="Merriweather"/>
                <a:cs typeface="Merriweather"/>
                <a:sym typeface="Merriweather"/>
              </a:rPr>
              <a:t>Relative abundance of genera that composed the Core as well as the communities present during the Flowering and Pod stages (Expanded Core).</a:t>
            </a:r>
            <a:r>
              <a:rPr lang="en" sz="900">
                <a:solidFill>
                  <a:schemeClr val="dk2"/>
                </a:solidFill>
              </a:rPr>
              <a:t>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4"/>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“Core”/Top 10 match between studies</a:t>
            </a:r>
            <a:endParaRPr/>
          </a:p>
        </p:txBody>
      </p:sp>
      <p:sp>
        <p:nvSpPr>
          <p:cNvPr id="248" name="Google Shape;248;p34"/>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Pseudomonadota </a:t>
            </a:r>
            <a:r>
              <a:rPr lang="en"/>
              <a:t>(79%)</a:t>
            </a:r>
            <a:endParaRPr/>
          </a:p>
          <a:p>
            <a:pPr indent="0" lvl="0" marL="0" rtl="0" algn="l">
              <a:spcBef>
                <a:spcPts val="1200"/>
              </a:spcBef>
              <a:spcAft>
                <a:spcPts val="0"/>
              </a:spcAft>
              <a:buNone/>
            </a:pPr>
            <a:r>
              <a:rPr lang="en"/>
              <a:t>Bacteroidota (7%)</a:t>
            </a:r>
            <a:endParaRPr/>
          </a:p>
          <a:p>
            <a:pPr indent="0" lvl="0" marL="0" rtl="0" algn="l">
              <a:spcBef>
                <a:spcPts val="1200"/>
              </a:spcBef>
              <a:spcAft>
                <a:spcPts val="0"/>
              </a:spcAft>
              <a:buNone/>
            </a:pPr>
            <a:r>
              <a:rPr lang="en"/>
              <a:t>Acidobacteria (6%)</a:t>
            </a:r>
            <a:endParaRPr/>
          </a:p>
          <a:p>
            <a:pPr indent="0" lvl="0" marL="0" rtl="0" algn="l">
              <a:spcBef>
                <a:spcPts val="1200"/>
              </a:spcBef>
              <a:spcAft>
                <a:spcPts val="1200"/>
              </a:spcAft>
              <a:buNone/>
            </a:pPr>
            <a:r>
              <a:rPr lang="en"/>
              <a:t>Bacillota (6%)</a:t>
            </a:r>
            <a:endParaRPr/>
          </a:p>
        </p:txBody>
      </p:sp>
      <p:sp>
        <p:nvSpPr>
          <p:cNvPr id="249" name="Google Shape;249;p34"/>
          <p:cNvSpPr txBox="1"/>
          <p:nvPr/>
        </p:nvSpPr>
        <p:spPr>
          <a:xfrm>
            <a:off x="3994771" y="833400"/>
            <a:ext cx="4737300" cy="347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Playfair Display"/>
                <a:ea typeface="Playfair Display"/>
                <a:cs typeface="Playfair Display"/>
                <a:sym typeface="Playfair Display"/>
              </a:rPr>
              <a:t>Pseudomonadota: </a:t>
            </a:r>
            <a:r>
              <a:rPr lang="en" sz="1500">
                <a:solidFill>
                  <a:schemeClr val="dk2"/>
                </a:solidFill>
                <a:latin typeface="Playfair Display"/>
                <a:ea typeface="Playfair Display"/>
                <a:cs typeface="Playfair Display"/>
                <a:sym typeface="Playfair Display"/>
              </a:rPr>
              <a:t>pathogens, nitrogen-fixing, antifungal, methanogens</a:t>
            </a:r>
            <a:endParaRPr sz="1500">
              <a:solidFill>
                <a:schemeClr val="dk2"/>
              </a:solidFill>
              <a:latin typeface="Playfair Display"/>
              <a:ea typeface="Playfair Display"/>
              <a:cs typeface="Playfair Display"/>
              <a:sym typeface="Playfair Display"/>
            </a:endParaRPr>
          </a:p>
          <a:p>
            <a:pPr indent="0" lvl="0" marL="0" rtl="0" algn="l">
              <a:spcBef>
                <a:spcPts val="500"/>
              </a:spcBef>
              <a:spcAft>
                <a:spcPts val="0"/>
              </a:spcAft>
              <a:buNone/>
            </a:pPr>
            <a:r>
              <a:rPr b="1" lang="en" sz="1500">
                <a:solidFill>
                  <a:schemeClr val="dk2"/>
                </a:solidFill>
                <a:latin typeface="Playfair Display"/>
                <a:ea typeface="Playfair Display"/>
                <a:cs typeface="Playfair Display"/>
                <a:sym typeface="Playfair Display"/>
              </a:rPr>
              <a:t>Bacteroidota: </a:t>
            </a:r>
            <a:r>
              <a:rPr lang="en" sz="1500">
                <a:solidFill>
                  <a:schemeClr val="dk2"/>
                </a:solidFill>
                <a:latin typeface="Playfair Display"/>
                <a:ea typeface="Playfair Display"/>
                <a:cs typeface="Playfair Display"/>
                <a:sym typeface="Playfair Display"/>
              </a:rPr>
              <a:t>biomass breakdown, soil quality</a:t>
            </a:r>
            <a:endParaRPr sz="1500">
              <a:solidFill>
                <a:schemeClr val="dk2"/>
              </a:solidFill>
              <a:latin typeface="Playfair Display"/>
              <a:ea typeface="Playfair Display"/>
              <a:cs typeface="Playfair Display"/>
              <a:sym typeface="Playfair Display"/>
            </a:endParaRPr>
          </a:p>
          <a:p>
            <a:pPr indent="0" lvl="0" marL="0" rtl="0" algn="l">
              <a:spcBef>
                <a:spcPts val="500"/>
              </a:spcBef>
              <a:spcAft>
                <a:spcPts val="0"/>
              </a:spcAft>
              <a:buNone/>
            </a:pPr>
            <a:r>
              <a:rPr b="1" lang="en" sz="1500">
                <a:solidFill>
                  <a:schemeClr val="dk2"/>
                </a:solidFill>
                <a:highlight>
                  <a:srgbClr val="FFFF00"/>
                </a:highlight>
                <a:latin typeface="Playfair Display"/>
                <a:ea typeface="Playfair Display"/>
                <a:cs typeface="Playfair Display"/>
                <a:sym typeface="Playfair Display"/>
              </a:rPr>
              <a:t>Acidobacteria: </a:t>
            </a:r>
            <a:r>
              <a:rPr lang="en" sz="1500">
                <a:solidFill>
                  <a:schemeClr val="dk2"/>
                </a:solidFill>
                <a:highlight>
                  <a:srgbClr val="FFFF00"/>
                </a:highlight>
                <a:latin typeface="Playfair Display"/>
                <a:ea typeface="Playfair Display"/>
                <a:cs typeface="Playfair Display"/>
                <a:sym typeface="Playfair Display"/>
              </a:rPr>
              <a:t>early growth factors, nutrient cycling</a:t>
            </a:r>
            <a:endParaRPr sz="1500">
              <a:solidFill>
                <a:schemeClr val="dk2"/>
              </a:solidFill>
              <a:highlight>
                <a:srgbClr val="FFFF00"/>
              </a:highlight>
              <a:latin typeface="Playfair Display"/>
              <a:ea typeface="Playfair Display"/>
              <a:cs typeface="Playfair Display"/>
              <a:sym typeface="Playfair Display"/>
            </a:endParaRPr>
          </a:p>
          <a:p>
            <a:pPr indent="0" lvl="0" marL="0" rtl="0" algn="l">
              <a:spcBef>
                <a:spcPts val="500"/>
              </a:spcBef>
              <a:spcAft>
                <a:spcPts val="0"/>
              </a:spcAft>
              <a:buNone/>
            </a:pPr>
            <a:r>
              <a:rPr b="1" lang="en" sz="1500">
                <a:solidFill>
                  <a:schemeClr val="dk2"/>
                </a:solidFill>
                <a:highlight>
                  <a:srgbClr val="FFFF00"/>
                </a:highlight>
                <a:latin typeface="Playfair Display"/>
                <a:ea typeface="Playfair Display"/>
                <a:cs typeface="Playfair Display"/>
                <a:sym typeface="Playfair Display"/>
              </a:rPr>
              <a:t>Bacillota: </a:t>
            </a:r>
            <a:r>
              <a:rPr lang="en" sz="1500">
                <a:solidFill>
                  <a:schemeClr val="dk2"/>
                </a:solidFill>
                <a:highlight>
                  <a:srgbClr val="FFFF00"/>
                </a:highlight>
                <a:latin typeface="Playfair Display"/>
                <a:ea typeface="Playfair Display"/>
                <a:cs typeface="Playfair Display"/>
                <a:sym typeface="Playfair Display"/>
              </a:rPr>
              <a:t>biocontrol</a:t>
            </a:r>
            <a:endParaRPr sz="1500">
              <a:solidFill>
                <a:schemeClr val="dk2"/>
              </a:solidFill>
              <a:highlight>
                <a:srgbClr val="FFFF00"/>
              </a:highlight>
              <a:latin typeface="Playfair Display"/>
              <a:ea typeface="Playfair Display"/>
              <a:cs typeface="Playfair Display"/>
              <a:sym typeface="Playfair Display"/>
            </a:endParaRPr>
          </a:p>
          <a:p>
            <a:pPr indent="0" lvl="0" marL="0" rtl="0" algn="l">
              <a:spcBef>
                <a:spcPts val="500"/>
              </a:spcBef>
              <a:spcAft>
                <a:spcPts val="0"/>
              </a:spcAft>
              <a:buNone/>
            </a:pPr>
            <a:r>
              <a:rPr b="1" lang="en" sz="1500">
                <a:solidFill>
                  <a:schemeClr val="dk2"/>
                </a:solidFill>
                <a:highlight>
                  <a:srgbClr val="FFFF00"/>
                </a:highlight>
                <a:latin typeface="Playfair Display"/>
                <a:ea typeface="Playfair Display"/>
                <a:cs typeface="Playfair Display"/>
                <a:sym typeface="Playfair Display"/>
              </a:rPr>
              <a:t>Actinomycetota: </a:t>
            </a:r>
            <a:r>
              <a:rPr lang="en" sz="1500">
                <a:solidFill>
                  <a:schemeClr val="dk2"/>
                </a:solidFill>
                <a:highlight>
                  <a:srgbClr val="FFFF00"/>
                </a:highlight>
                <a:latin typeface="Playfair Display"/>
                <a:ea typeface="Playfair Display"/>
                <a:cs typeface="Playfair Display"/>
                <a:sym typeface="Playfair Display"/>
              </a:rPr>
              <a:t>antifungal</a:t>
            </a:r>
            <a:endParaRPr sz="1500">
              <a:solidFill>
                <a:schemeClr val="dk2"/>
              </a:solidFill>
              <a:highlight>
                <a:srgbClr val="FFFF00"/>
              </a:highlight>
              <a:latin typeface="Playfair Display"/>
              <a:ea typeface="Playfair Display"/>
              <a:cs typeface="Playfair Display"/>
              <a:sym typeface="Playfair Display"/>
            </a:endParaRPr>
          </a:p>
          <a:p>
            <a:pPr indent="0" lvl="0" marL="0" rtl="0" algn="l">
              <a:spcBef>
                <a:spcPts val="500"/>
              </a:spcBef>
              <a:spcAft>
                <a:spcPts val="0"/>
              </a:spcAft>
              <a:buNone/>
            </a:pPr>
            <a:r>
              <a:rPr b="1" lang="en" sz="1500">
                <a:solidFill>
                  <a:schemeClr val="dk2"/>
                </a:solidFill>
                <a:latin typeface="Playfair Display"/>
                <a:ea typeface="Playfair Display"/>
                <a:cs typeface="Playfair Display"/>
                <a:sym typeface="Playfair Display"/>
              </a:rPr>
              <a:t>Chloroflexota: </a:t>
            </a:r>
            <a:r>
              <a:rPr lang="en" sz="1500">
                <a:solidFill>
                  <a:schemeClr val="dk2"/>
                </a:solidFill>
                <a:latin typeface="Playfair Display"/>
                <a:ea typeface="Playfair Display"/>
                <a:cs typeface="Playfair Display"/>
                <a:sym typeface="Playfair Display"/>
              </a:rPr>
              <a:t>decomposers</a:t>
            </a:r>
            <a:endParaRPr sz="1500">
              <a:solidFill>
                <a:schemeClr val="dk2"/>
              </a:solidFill>
              <a:latin typeface="Playfair Display"/>
              <a:ea typeface="Playfair Display"/>
              <a:cs typeface="Playfair Display"/>
              <a:sym typeface="Playfair Display"/>
            </a:endParaRPr>
          </a:p>
          <a:p>
            <a:pPr indent="0" lvl="0" marL="0" rtl="0" algn="l">
              <a:spcBef>
                <a:spcPts val="500"/>
              </a:spcBef>
              <a:spcAft>
                <a:spcPts val="0"/>
              </a:spcAft>
              <a:buNone/>
            </a:pPr>
            <a:r>
              <a:rPr b="1" lang="en" sz="1500">
                <a:solidFill>
                  <a:schemeClr val="dk2"/>
                </a:solidFill>
                <a:latin typeface="Playfair Display"/>
                <a:ea typeface="Playfair Display"/>
                <a:cs typeface="Playfair Display"/>
                <a:sym typeface="Playfair Display"/>
              </a:rPr>
              <a:t>Thermoproteota: </a:t>
            </a:r>
            <a:r>
              <a:rPr lang="en" sz="1500">
                <a:solidFill>
                  <a:schemeClr val="dk2"/>
                </a:solidFill>
                <a:latin typeface="Playfair Display"/>
                <a:ea typeface="Playfair Display"/>
                <a:cs typeface="Playfair Display"/>
                <a:sym typeface="Playfair Display"/>
              </a:rPr>
              <a:t>stress adaptation, heat-adapted</a:t>
            </a:r>
            <a:endParaRPr sz="1500">
              <a:solidFill>
                <a:schemeClr val="dk2"/>
              </a:solidFill>
              <a:latin typeface="Playfair Display"/>
              <a:ea typeface="Playfair Display"/>
              <a:cs typeface="Playfair Display"/>
              <a:sym typeface="Playfair Display"/>
            </a:endParaRPr>
          </a:p>
          <a:p>
            <a:pPr indent="0" lvl="0" marL="0" rtl="0" algn="l">
              <a:spcBef>
                <a:spcPts val="500"/>
              </a:spcBef>
              <a:spcAft>
                <a:spcPts val="0"/>
              </a:spcAft>
              <a:buNone/>
            </a:pPr>
            <a:r>
              <a:rPr b="1" lang="en" sz="1500">
                <a:solidFill>
                  <a:schemeClr val="dk2"/>
                </a:solidFill>
                <a:latin typeface="Playfair Display"/>
                <a:ea typeface="Playfair Display"/>
                <a:cs typeface="Playfair Display"/>
                <a:sym typeface="Playfair Display"/>
              </a:rPr>
              <a:t>Verrucomicrobiota: </a:t>
            </a:r>
            <a:r>
              <a:rPr lang="en" sz="1500">
                <a:solidFill>
                  <a:schemeClr val="dk2"/>
                </a:solidFill>
                <a:latin typeface="Playfair Display"/>
                <a:ea typeface="Playfair Display"/>
                <a:cs typeface="Playfair Display"/>
                <a:sym typeface="Playfair Display"/>
              </a:rPr>
              <a:t>stress adaptation, biocontrol</a:t>
            </a:r>
            <a:endParaRPr sz="1500">
              <a:solidFill>
                <a:schemeClr val="dk2"/>
              </a:solidFill>
              <a:latin typeface="Playfair Display"/>
              <a:ea typeface="Playfair Display"/>
              <a:cs typeface="Playfair Display"/>
              <a:sym typeface="Playfair Display"/>
            </a:endParaRPr>
          </a:p>
          <a:p>
            <a:pPr indent="0" lvl="0" marL="0" rtl="0" algn="l">
              <a:spcBef>
                <a:spcPts val="500"/>
              </a:spcBef>
              <a:spcAft>
                <a:spcPts val="0"/>
              </a:spcAft>
              <a:buNone/>
            </a:pPr>
            <a:r>
              <a:rPr b="1" lang="en" sz="1500">
                <a:solidFill>
                  <a:schemeClr val="dk2"/>
                </a:solidFill>
                <a:latin typeface="Playfair Display"/>
                <a:ea typeface="Playfair Display"/>
                <a:cs typeface="Playfair Display"/>
                <a:sym typeface="Playfair Display"/>
              </a:rPr>
              <a:t>Planctomycetota: </a:t>
            </a:r>
            <a:r>
              <a:rPr lang="en" sz="1500">
                <a:solidFill>
                  <a:schemeClr val="dk2"/>
                </a:solidFill>
                <a:latin typeface="Playfair Display"/>
                <a:ea typeface="Playfair Display"/>
                <a:cs typeface="Playfair Display"/>
                <a:sym typeface="Playfair Display"/>
              </a:rPr>
              <a:t>stress adaptation, nutrient cycling, leaf niche</a:t>
            </a:r>
            <a:endParaRPr sz="1500">
              <a:solidFill>
                <a:schemeClr val="dk2"/>
              </a:solidFill>
              <a:latin typeface="Playfair Display"/>
              <a:ea typeface="Playfair Display"/>
              <a:cs typeface="Playfair Display"/>
              <a:sym typeface="Playfair Display"/>
            </a:endParaRPr>
          </a:p>
          <a:p>
            <a:pPr indent="0" lvl="0" marL="0" rtl="0" algn="l">
              <a:spcBef>
                <a:spcPts val="500"/>
              </a:spcBef>
              <a:spcAft>
                <a:spcPts val="500"/>
              </a:spcAft>
              <a:buNone/>
            </a:pPr>
            <a:r>
              <a:rPr b="1" lang="en" sz="1500">
                <a:solidFill>
                  <a:schemeClr val="dk2"/>
                </a:solidFill>
                <a:latin typeface="Playfair Display"/>
                <a:ea typeface="Playfair Display"/>
                <a:cs typeface="Playfair Display"/>
                <a:sym typeface="Playfair Display"/>
              </a:rPr>
              <a:t>Gemmatimonadota: </a:t>
            </a:r>
            <a:r>
              <a:rPr lang="en" sz="1500">
                <a:solidFill>
                  <a:schemeClr val="dk2"/>
                </a:solidFill>
                <a:latin typeface="Playfair Display"/>
                <a:ea typeface="Playfair Display"/>
                <a:cs typeface="Playfair Display"/>
                <a:sym typeface="Playfair Display"/>
              </a:rPr>
              <a:t>drought tolerance</a:t>
            </a:r>
            <a:endParaRPr sz="1500">
              <a:solidFill>
                <a:schemeClr val="dk2"/>
              </a:solidFill>
              <a:latin typeface="Playfair Display"/>
              <a:ea typeface="Playfair Display"/>
              <a:cs typeface="Playfair Display"/>
              <a:sym typeface="Playfair Displ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35"/>
          <p:cNvPicPr preferRelativeResize="0"/>
          <p:nvPr/>
        </p:nvPicPr>
        <p:blipFill>
          <a:blip r:embed="rId3">
            <a:alphaModFix/>
          </a:blip>
          <a:stretch>
            <a:fillRect/>
          </a:stretch>
        </p:blipFill>
        <p:spPr>
          <a:xfrm>
            <a:off x="135525" y="242804"/>
            <a:ext cx="2990850" cy="4229100"/>
          </a:xfrm>
          <a:prstGeom prst="rect">
            <a:avLst/>
          </a:prstGeom>
          <a:noFill/>
          <a:ln>
            <a:noFill/>
          </a:ln>
        </p:spPr>
      </p:pic>
      <p:pic>
        <p:nvPicPr>
          <p:cNvPr id="255" name="Google Shape;255;p35"/>
          <p:cNvPicPr preferRelativeResize="0"/>
          <p:nvPr/>
        </p:nvPicPr>
        <p:blipFill>
          <a:blip r:embed="rId4">
            <a:alphaModFix/>
          </a:blip>
          <a:stretch>
            <a:fillRect/>
          </a:stretch>
        </p:blipFill>
        <p:spPr>
          <a:xfrm>
            <a:off x="3230011" y="251154"/>
            <a:ext cx="2851073" cy="4229100"/>
          </a:xfrm>
          <a:prstGeom prst="rect">
            <a:avLst/>
          </a:prstGeom>
          <a:noFill/>
          <a:ln>
            <a:noFill/>
          </a:ln>
        </p:spPr>
      </p:pic>
      <p:pic>
        <p:nvPicPr>
          <p:cNvPr id="256" name="Google Shape;256;p35"/>
          <p:cNvPicPr preferRelativeResize="0"/>
          <p:nvPr/>
        </p:nvPicPr>
        <p:blipFill>
          <a:blip r:embed="rId5">
            <a:alphaModFix/>
          </a:blip>
          <a:stretch>
            <a:fillRect/>
          </a:stretch>
        </p:blipFill>
        <p:spPr>
          <a:xfrm>
            <a:off x="6201430" y="261850"/>
            <a:ext cx="2809875" cy="4191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0" name="Shape 260"/>
        <p:cNvGrpSpPr/>
        <p:nvPr/>
      </p:nvGrpSpPr>
      <p:grpSpPr>
        <a:xfrm>
          <a:off x="0" y="0"/>
          <a:ext cx="0" cy="0"/>
          <a:chOff x="0" y="0"/>
          <a:chExt cx="0" cy="0"/>
        </a:xfrm>
      </p:grpSpPr>
      <p:sp>
        <p:nvSpPr>
          <p:cNvPr id="261" name="Google Shape;261;p36"/>
          <p:cNvSpPr txBox="1"/>
          <p:nvPr>
            <p:ph type="title"/>
          </p:nvPr>
        </p:nvSpPr>
        <p:spPr>
          <a:xfrm>
            <a:off x="344250" y="1248550"/>
            <a:ext cx="8455500" cy="2377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100"/>
              <a:t>The phyllospheric microbiome does change </a:t>
            </a:r>
            <a:endParaRPr sz="2100"/>
          </a:p>
          <a:p>
            <a:pPr indent="0" lvl="0" marL="0" rtl="0" algn="ctr">
              <a:spcBef>
                <a:spcPts val="0"/>
              </a:spcBef>
              <a:spcAft>
                <a:spcPts val="0"/>
              </a:spcAft>
              <a:buNone/>
            </a:pPr>
            <a:r>
              <a:rPr lang="en" sz="2100"/>
              <a:t>according to </a:t>
            </a:r>
            <a:r>
              <a:rPr lang="en" sz="2100"/>
              <a:t>growth</a:t>
            </a:r>
            <a:r>
              <a:rPr lang="en" sz="2100"/>
              <a:t> stage.</a:t>
            </a:r>
            <a:endParaRPr sz="2100"/>
          </a:p>
          <a:p>
            <a:pPr indent="0" lvl="0" marL="0" rtl="0" algn="ctr">
              <a:spcBef>
                <a:spcPts val="0"/>
              </a:spcBef>
              <a:spcAft>
                <a:spcPts val="0"/>
              </a:spcAft>
              <a:buNone/>
            </a:pPr>
            <a:r>
              <a:t/>
            </a:r>
            <a:endParaRPr sz="2100"/>
          </a:p>
          <a:p>
            <a:pPr indent="0" lvl="0" marL="0" rtl="0" algn="ctr">
              <a:spcBef>
                <a:spcPts val="0"/>
              </a:spcBef>
              <a:spcAft>
                <a:spcPts val="0"/>
              </a:spcAft>
              <a:buNone/>
            </a:pPr>
            <a:r>
              <a:rPr b="0" lang="en" sz="1800"/>
              <a:t>Pseudomonadota increases over time</a:t>
            </a:r>
            <a:endParaRPr b="0" sz="1800"/>
          </a:p>
          <a:p>
            <a:pPr indent="0" lvl="0" marL="0" rtl="0" algn="ctr">
              <a:spcBef>
                <a:spcPts val="0"/>
              </a:spcBef>
              <a:spcAft>
                <a:spcPts val="0"/>
              </a:spcAft>
              <a:buNone/>
            </a:pPr>
            <a:r>
              <a:rPr b="0" lang="en" sz="1800"/>
              <a:t>Actinomycetota decreases during budding</a:t>
            </a:r>
            <a:endParaRPr b="0" sz="1800"/>
          </a:p>
          <a:p>
            <a:pPr indent="0" lvl="0" marL="0" rtl="0" algn="ctr">
              <a:spcBef>
                <a:spcPts val="0"/>
              </a:spcBef>
              <a:spcAft>
                <a:spcPts val="0"/>
              </a:spcAft>
              <a:buNone/>
            </a:pPr>
            <a:r>
              <a:rPr b="0" lang="en" sz="1800"/>
              <a:t>Bacillota is present during flowering</a:t>
            </a:r>
            <a:endParaRPr b="0" sz="1800"/>
          </a:p>
          <a:p>
            <a:pPr indent="0" lvl="0" marL="0" rtl="0" algn="ctr">
              <a:spcBef>
                <a:spcPts val="0"/>
              </a:spcBef>
              <a:spcAft>
                <a:spcPts val="0"/>
              </a:spcAft>
              <a:buNone/>
            </a:pPr>
            <a:r>
              <a:rPr b="0" lang="en" sz="1800"/>
              <a:t>Abundance is decreased after ripening</a:t>
            </a:r>
            <a:endParaRPr b="0"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5" name="Shape 265"/>
        <p:cNvGrpSpPr/>
        <p:nvPr/>
      </p:nvGrpSpPr>
      <p:grpSpPr>
        <a:xfrm>
          <a:off x="0" y="0"/>
          <a:ext cx="0" cy="0"/>
          <a:chOff x="0" y="0"/>
          <a:chExt cx="0" cy="0"/>
        </a:xfrm>
      </p:grpSpPr>
      <p:sp>
        <p:nvSpPr>
          <p:cNvPr id="266" name="Google Shape;266;p37"/>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100"/>
              <a:t>Plants may play an active role in building their </a:t>
            </a:r>
            <a:endParaRPr sz="2100"/>
          </a:p>
          <a:p>
            <a:pPr indent="0" lvl="0" marL="0" rtl="0" algn="ctr">
              <a:spcBef>
                <a:spcPts val="0"/>
              </a:spcBef>
              <a:spcAft>
                <a:spcPts val="0"/>
              </a:spcAft>
              <a:buNone/>
            </a:pPr>
            <a:r>
              <a:rPr lang="en" sz="2100"/>
              <a:t>microbial community, and the dynamics may have </a:t>
            </a:r>
            <a:endParaRPr sz="2100"/>
          </a:p>
          <a:p>
            <a:pPr indent="0" lvl="0" marL="0" rtl="0" algn="ctr">
              <a:spcBef>
                <a:spcPts val="0"/>
              </a:spcBef>
              <a:spcAft>
                <a:spcPts val="0"/>
              </a:spcAft>
              <a:buNone/>
            </a:pPr>
            <a:r>
              <a:rPr lang="en" sz="2100"/>
              <a:t>co-evolved into a complex mutualistic web.</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2" name="Google Shape;272;p38"/>
          <p:cNvSpPr txBox="1"/>
          <p:nvPr/>
        </p:nvSpPr>
        <p:spPr>
          <a:xfrm>
            <a:off x="259950" y="1083400"/>
            <a:ext cx="10194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Playfair Display"/>
              <a:ea typeface="Playfair Display"/>
              <a:cs typeface="Playfair Display"/>
              <a:sym typeface="Playfair Display"/>
            </a:endParaRPr>
          </a:p>
        </p:txBody>
      </p:sp>
      <p:sp>
        <p:nvSpPr>
          <p:cNvPr id="273" name="Google Shape;273;p38"/>
          <p:cNvSpPr txBox="1"/>
          <p:nvPr/>
        </p:nvSpPr>
        <p:spPr>
          <a:xfrm>
            <a:off x="42700" y="1083400"/>
            <a:ext cx="8789700" cy="38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accent1"/>
                </a:solidFill>
                <a:latin typeface="Playfair Display"/>
                <a:ea typeface="Playfair Display"/>
                <a:cs typeface="Playfair Display"/>
                <a:sym typeface="Playfair Display"/>
              </a:rPr>
              <a:t>Bell, J.K., Helgason, B. &amp; Siciliano, S.D. Brassica napus phyllosphere bacterial composition changes with growth stage. Plant Soil 464, 501–516 (2021). https://doi.org/10.1007/s11104-021-04965-2</a:t>
            </a:r>
            <a:endParaRPr b="1"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rPr lang="en" sz="900">
                <a:solidFill>
                  <a:schemeClr val="accent1"/>
                </a:solidFill>
                <a:latin typeface="Playfair Display"/>
                <a:ea typeface="Playfair Display"/>
                <a:cs typeface="Playfair Display"/>
                <a:sym typeface="Playfair Display"/>
              </a:rPr>
              <a:t>Batool F, Rehman Y, Hasnain S (2016) Phylloplane associated plant bacteria of commercially superior wheat varieties exhibit superior plant growth promoting abilities. Front Life Sci 9:313–322</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rPr lang="en" sz="900">
                <a:solidFill>
                  <a:schemeClr val="accent1"/>
                </a:solidFill>
                <a:latin typeface="Playfair Display"/>
                <a:ea typeface="Playfair Display"/>
                <a:cs typeface="Playfair Display"/>
                <a:sym typeface="Playfair Display"/>
              </a:rPr>
              <a:t>Borghi M, Perez de Souza L, Tohge T, Mi J, Melandri G, Proost S, Martins MCM, Al-Babili S, Bouwmeester HJ, Fernie AR. High-energy-level metabolism and transport occur at the transition from closed to open flowers. Plant Physiol. 2022 Aug 29;190(1):319-339. doi: 10.1093/plphys/kiac253. PMID: 35640120; PMCID: PMC9434183. </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rPr lang="en" sz="900">
                <a:solidFill>
                  <a:schemeClr val="accent1"/>
                </a:solidFill>
                <a:latin typeface="Playfair Display"/>
                <a:ea typeface="Playfair Display"/>
                <a:cs typeface="Playfair Display"/>
                <a:sym typeface="Playfair Display"/>
              </a:rPr>
              <a:t>Guo B, Zhang H, Liu Y, Chen J, Li J.2023.Drought-resistant trait of different crop genotypes determines assembly patterns of soil and phyllosphere microbial communities. Microbiol Spectr11:e00068-23.https://doi.org/10.1128/spectrum.00068-23</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rPr lang="en" sz="900">
                <a:solidFill>
                  <a:schemeClr val="accent1"/>
                </a:solidFill>
                <a:latin typeface="Playfair Display"/>
                <a:ea typeface="Playfair Display"/>
                <a:cs typeface="Playfair Display"/>
                <a:sym typeface="Playfair Display"/>
              </a:rPr>
              <a:t>Khan MA, Asaf S, Khan AL, Jan R, Kang SM, Kim KM, Lee IJ. Thermotolerance effect of plant growth-promoting Bacillus cereus SA1 on soybean during heat stress. BMC Microbiol. 2020 Jun 22;20(1):175. doi: 10.1186/s12866-020-01822-7. PMID: 32571217; PMCID: PMC7310250.</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rPr lang="en" sz="900">
                <a:solidFill>
                  <a:schemeClr val="accent1"/>
                </a:solidFill>
                <a:latin typeface="Playfair Display"/>
                <a:ea typeface="Playfair Display"/>
                <a:cs typeface="Playfair Display"/>
                <a:sym typeface="Playfair Display"/>
              </a:rPr>
              <a:t>Mamani-Rojas, L., Rengifo, R., Velarde-Apaza, L., Ramírez-Rojas, M., &amp; Cántaro-Segura, H. (2026). Biocontrol and Plant Growth-Promoting Potential of Bacillus and Actinomycetes Isolated from the Rhizosphere and Phyllosphere of Potato (Solanum tuberosum L.) from Different Agroecological Zones of Peru. Applied Microbiology, 6(1), 2. https://doi.org/10.3390/applmicrobiol6010002</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rPr lang="en" sz="900">
                <a:solidFill>
                  <a:schemeClr val="accent1"/>
                </a:solidFill>
                <a:latin typeface="Playfair Display"/>
                <a:ea typeface="Playfair Display"/>
                <a:cs typeface="Playfair Display"/>
                <a:sym typeface="Playfair Display"/>
              </a:rPr>
              <a:t>Tsotetsi T, Nephali L, Malebe M, Tugizimana F. Bacillus for Plant Growth Promotion and Stress Resilience: What Have We Learned? Plants (Basel). 2022 Sep 22;11(19):2482. doi: 10.3390/plants11192482. PMID: 36235347; PMCID: PMC9571655.</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rPr lang="en" sz="900">
                <a:solidFill>
                  <a:schemeClr val="accent1"/>
                </a:solidFill>
                <a:latin typeface="Playfair Display"/>
                <a:ea typeface="Playfair Display"/>
                <a:cs typeface="Playfair Display"/>
                <a:sym typeface="Playfair Display"/>
              </a:rPr>
              <a:t>Marta Torres, Vincent Lombard, Nicolas Terrapon, Adam M. Deutschbauer.  </a:t>
            </a:r>
            <a:r>
              <a:rPr lang="en" sz="900">
                <a:solidFill>
                  <a:schemeClr val="accent1"/>
                </a:solidFill>
                <a:latin typeface="Playfair Display"/>
                <a:ea typeface="Playfair Display"/>
                <a:cs typeface="Playfair Display"/>
                <a:sym typeface="Playfair Display"/>
              </a:rPr>
              <a:t>Unraveling Fitness Landscapes in Plant-Associated Bacteroidota. bioRxiv 2025.12.01.691665; doi: https://doi.org/10.64898/2025.12.01.691665</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rPr lang="en" sz="900">
                <a:solidFill>
                  <a:schemeClr val="accent1"/>
                </a:solidFill>
                <a:latin typeface="Playfair Display"/>
                <a:ea typeface="Playfair Display"/>
                <a:cs typeface="Playfair Display"/>
                <a:sym typeface="Playfair Display"/>
              </a:rPr>
              <a:t>Ryan PR, Dessaux Y, Thomashow LS, Weller DM (2009) Rhizosphere engineering and management for sustainable agriculture. Plant Soil 321(1–2):363–383</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Clr>
                <a:schemeClr val="dk2"/>
              </a:buClr>
              <a:buSzPts val="1100"/>
              <a:buFont typeface="Arial"/>
              <a:buNone/>
            </a:pPr>
            <a:r>
              <a:rPr lang="en" sz="900">
                <a:solidFill>
                  <a:schemeClr val="accent1"/>
                </a:solidFill>
                <a:latin typeface="Playfair Display"/>
                <a:ea typeface="Playfair Display"/>
                <a:cs typeface="Playfair Display"/>
                <a:sym typeface="Playfair Display"/>
              </a:rPr>
              <a:t>Wang D, He X, Baer M, Lami K, Yu B, Tassinari A, Salvi S, Schaaf G, Hochholdinger F, Yu P. Lateral root enriched Massilia associated with plant flowering in maize. Microbiome. 2024 Jul 9;12(1):124. doi: 10.1186/s40168-024-01839-4. PMID: 38982519; PMCID: PMC11234754.</a:t>
            </a:r>
            <a:endParaRPr sz="900">
              <a:solidFill>
                <a:schemeClr val="accen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900">
              <a:solidFill>
                <a:schemeClr val="accent1"/>
              </a:solidFill>
              <a:latin typeface="Playfair Display"/>
              <a:ea typeface="Playfair Display"/>
              <a:cs typeface="Playfair Display"/>
              <a:sym typeface="Playfair Displa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p">
  <a:themeElements>
    <a:clrScheme name="Pop">
      <a:dk1>
        <a:srgbClr val="9DD06D"/>
      </a:dk1>
      <a:lt1>
        <a:srgbClr val="FFFFFF"/>
      </a:lt1>
      <a:dk2>
        <a:srgbClr val="000000"/>
      </a:dk2>
      <a:lt2>
        <a:srgbClr val="D9D9D9"/>
      </a:lt2>
      <a:accent1>
        <a:srgbClr val="666666"/>
      </a:accent1>
      <a:accent2>
        <a:srgbClr val="483165"/>
      </a:accent2>
      <a:accent3>
        <a:srgbClr val="389345"/>
      </a:accent3>
      <a:accent4>
        <a:srgbClr val="42E998"/>
      </a:accent4>
      <a:accent5>
        <a:srgbClr val="0F9D58"/>
      </a:accent5>
      <a:accent6>
        <a:srgbClr val="A3F4CD"/>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